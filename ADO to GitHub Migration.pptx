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JetBrains Mono" panose="02000009000000000000" pitchFamily="49"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is the Platform project in the AnalyticsDataHub Azure DevOps organization. Target is the ADHPlatform organization on cencora.ghe.com. The migration is internally owned and phased, with validation and a rollback path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benefits. Security: workflows authenticate to Azure with short-lived OIDC tokens instead of the 103 stored service connection credentials. Maintainability: classic releases defined in the ADO UI become YAML workflows in Git, reviewed like code. Operations: approved Container Apps runners replace 460 registered self-hosted agents, scaling with load. Governance: branch rulesets, CODEOWNERS and environment protection rules give clear, auditable approvals. Access: Entra ID groups drive GitHub team membership. Developer experience: code, PRs and CI/CD in one place, with shared reusable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counts are point-in-time snapshots from the assessment metrics, build summary, release summary and later read-only ADO checks. The 302 classic release definitions are the largest conversion effort. Refresh every number before migration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in scope, with the assessment counts. All counts are snapshots and must be refreshed before migration. Agent counts are organization-wide rather than confirmed Platform-only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today: a single Platform project in the AnalyticsDataHub organization holding repos, build and release pipelines, service connections, variable groups, feeds and agent pools. Right is the target: the ADHPlatform organization on cencora.ghe.com, one repo per retained ADO repo. The existing Platform repo can host shared reusable workflows once it has been reviewed. Infra dominates: 81 build definitions use Modernization_Terraform and 30 use Custodian_Infrastructure_Deployment_Terraform.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Component-by-component mapping from Azure DevOps to GitHub. The riskiest rows are classic releases (302 of them), service connections (103) and approvals: ADO checks and gates have no automatic equivalent, so each control is mapped to an environment protection rule, ruleset or workflow step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Platform wiki Architecture page. Each layer of the Custodian architecture on the left has a matching requirement for the GitHub version on the right. The principle: reproduce today's behavior first, then optimize.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how infrastructure is deployed today in ADO; right is the proposed GitHub Actions equivalent. The to-be column is a design proposal that keeps the same order, files and Terraform state access, only changing where it runs and how it authenticates. Source: Custodian Deployment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life of an infrastructure change in GitHub, from a module change through validation, publishing, plan, a required approval, apply and post-deployment configuration. Bottom row: the order the infrastructure itself deploys in, taken from the architecture wiki. Environment-specific Terraform state stays in Azure Storage. Design boundary: Container Apps runners are approved, but network connectivity, tooling, identity and capacity still need validation, so we do not assume ADO agents can be replaced without that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all 302 classic release definitions are in scope. Left is the governance for deciding what to rebuild. Right is the automation approach from the classic-to-YAML article: script the export of each definition and its per-environment variables, generate a pipeline that extends a shared template, raise a PR, then archive the classic definition. The article's author estimated 32 hours to build the script against 60 hours of manual work for 60 repositories. The article does not cover secrets, approvals or service connections, so those are mapped separately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10 non-hosted pools, 460 registered agents, 266 online at the time checked. These are organization-wide numbers. Target: the approved Container Apps-hosted runners replace self-hosted ADO agents. GitHub-hosted runners may still be evaluated separately for workloads that do not need self-hosting.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Container Apps-hosted runner approach is approved, so self-hosted ADO agents will be replaced by GitHub runners. Workflows target an approved runner group; the runners on Azure Container Apps carry Terraform and deployment tooling, reach private deployment targets, and access Azure through an approved identity. Agents are retired one pool at a time, only after their workloads have migrated and passed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pipelines reach Azure through 103 ADO service connections. In GitHub, each workflow job requests a short-lived OIDC token; an Entra ID federated credential trusts only tokens from a specific repository and environment, and Azure RBAC limits what that identity can do. Nothing long-lived is stored in GitHub for Azure access. Non-Azure systems use environment-scoped secrets or Key Vault. The 103 connections are inventoried, classified, deduplicated and mapped to environments; old service principal secrets are revoked after cutover. This is a proposed design pending security approval, and the owner split is a proposal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access model. Membership is managed in Entra ID and synced to GitHub teams, so joiners and leavers are handled in one place. Repository roles follow least privilege: only platform admins change settings, engineers merge through PRs, developers cannot touch Prod. Release approvers need only read access plus membership of the Prod environment reviewers list. Runner groups are restricted to the ADHPlatform repositories that need them. Team names are placeholders to agree with the GitHub org owners; organization-level permissions are still being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is code review: nothing merges to main without a pull request, passing checks (Terraform fmt, validate and plan) and CODEOWNERS approval. Gate 2 is the Prod environment: the deployment job pauses until a member of the Prod approvers team approves, and the person who triggered it cannot approve their own run. Optional wait timers and custom protection rules can call a change-management system. Classic release approvals and YAML environment checks are mapped one by one; the 11,262 approval entries in ADO metadata are not a target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operating model for repositories after migration. Organization rulesets apply the same protections to every repository so nobody has to configure them repo by repo. Shared workflows live in the existing Platform repository if that is approved, versioned so teams upgrade on purpose. Secret scanning and push protection depend on the GitHub Advanced Security licence. Module delivery stays on Azure Artifacts initially to avoid changing two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items from the assessment, framed as risks for management. The biggest unknowns are YAML coverage (only 29 of 125 files retrieved so far), the Container Apps runner details and the service connection inventory. The GitHub Actions Importer audit cannot run until a Docker daemon is available. None of these block approval of the design; they block the start of migration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runs in six phases, each with an explicit exit gate so management can see progress and stop if needed. Rollback stays available through cutover, and ADO is only decommissioned after operations and owners approve. A transition option lets selected Azure Pipelines build from GitHub source while their workflows are converted, which reduces the big-bang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1 comes from the assessment. Decisions 2 and 3 are proposed asks that follow from the service connection and phasing slides; adjust them to what you need from this audience. The next steps close the open assessment items so the pilot can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34"/>
            <a:ext cx="10566400" cy="416566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34"/>
            <a:ext cx="10566400" cy="4165666"/>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JetBrains Mono" pitchFamily="49" charset="0"/>
                <a:ea typeface="JetBrains Mono" pitchFamily="49" charset="-122"/>
                <a:cs typeface="JetBrains Mono" pitchFamily="49" charset="-120"/>
              </a:rPr>
              <a:t>AS-IS IN ADO · TO-BE ON GITHUB</a:t>
            </a:r>
            <a:endParaRPr lang="en-US" sz="1400" dirty="0"/>
          </a:p>
        </p:txBody>
      </p:sp>
      <p:sp>
        <p:nvSpPr>
          <p:cNvPr id="3" name="Text 1"/>
          <p:cNvSpPr/>
          <p:nvPr>
            <p:ph type="title"/>
          </p:nvPr>
        </p:nvSpPr>
        <p:spPr>
          <a:xfrm>
            <a:off x="812800" y="1214107"/>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E"/>
                </a:solidFill>
                <a:latin typeface="IBM Plex Sans" pitchFamily="34" charset="0"/>
                <a:ea typeface="IBM Plex Sans" pitchFamily="34" charset="-122"/>
                <a:cs typeface="IBM Plex Sans" pitchFamily="34" charset="-120"/>
              </a:rPr>
              <a:t>ADO to GitHub Migration</a:t>
            </a:r>
            <a:endParaRPr lang="en-US" sz="5600" dirty="0"/>
          </a:p>
        </p:txBody>
      </p:sp>
      <p:sp>
        <p:nvSpPr>
          <p:cNvPr id="4" name="Text 2"/>
          <p:cNvSpPr/>
          <p:nvPr/>
        </p:nvSpPr>
        <p:spPr>
          <a:xfrm>
            <a:off x="812800" y="29616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Source</a:t>
            </a:r>
            <a:endParaRPr lang="en-US" sz="1500" dirty="0"/>
          </a:p>
        </p:txBody>
      </p:sp>
      <p:sp>
        <p:nvSpPr>
          <p:cNvPr id="5" name="Text 3"/>
          <p:cNvSpPr/>
          <p:nvPr/>
        </p:nvSpPr>
        <p:spPr>
          <a:xfrm>
            <a:off x="3048000" y="29616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Azure DevOps · </a:t>
            </a:r>
            <a:r>
              <a:rPr lang="en-US" sz="1500" dirty="0">
                <a:solidFill>
                  <a:srgbClr val="BFC8D8"/>
                </a:solidFill>
                <a:latin typeface="IBM Plex Sans" pitchFamily="34" charset="0"/>
                <a:ea typeface="IBM Plex Sans" pitchFamily="34" charset="-122"/>
                <a:cs typeface="IBM Plex Sans" pitchFamily="34" charset="-120"/>
              </a:rPr>
              <a:t>AnalyticsDataHub / Platform</a:t>
            </a:r>
            <a:endParaRPr lang="en-US" sz="1500" dirty="0"/>
          </a:p>
        </p:txBody>
      </p:sp>
      <p:sp>
        <p:nvSpPr>
          <p:cNvPr id="6" name="Text 4"/>
          <p:cNvSpPr/>
          <p:nvPr/>
        </p:nvSpPr>
        <p:spPr>
          <a:xfrm>
            <a:off x="812800" y="33553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Target</a:t>
            </a:r>
            <a:endParaRPr lang="en-US" sz="1500" dirty="0"/>
          </a:p>
        </p:txBody>
      </p:sp>
      <p:sp>
        <p:nvSpPr>
          <p:cNvPr id="7" name="Text 5"/>
          <p:cNvSpPr/>
          <p:nvPr/>
        </p:nvSpPr>
        <p:spPr>
          <a:xfrm>
            <a:off x="3048000" y="33553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GitHub Enterprise · </a:t>
            </a:r>
            <a:r>
              <a:rPr lang="en-US" sz="1500" dirty="0">
                <a:solidFill>
                  <a:srgbClr val="BFC8D8"/>
                </a:solidFill>
                <a:latin typeface="IBM Plex Sans" pitchFamily="34" charset="0"/>
                <a:ea typeface="IBM Plex Sans" pitchFamily="34" charset="-122"/>
                <a:cs typeface="IBM Plex Sans" pitchFamily="34" charset="-120"/>
              </a:rPr>
              <a:t>cencora.ghe.com / ADHPlatform</a:t>
            </a:r>
            <a:endParaRPr lang="en-US" sz="1500" dirty="0"/>
          </a:p>
        </p:txBody>
      </p:sp>
      <p:sp>
        <p:nvSpPr>
          <p:cNvPr id="8" name="Text 6"/>
          <p:cNvSpPr/>
          <p:nvPr/>
        </p:nvSpPr>
        <p:spPr>
          <a:xfrm>
            <a:off x="812800" y="37490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Scope</a:t>
            </a:r>
            <a:endParaRPr lang="en-US" sz="1500" dirty="0"/>
          </a:p>
        </p:txBody>
      </p:sp>
      <p:sp>
        <p:nvSpPr>
          <p:cNvPr id="9" name="Text 7"/>
          <p:cNvSpPr/>
          <p:nvPr/>
        </p:nvSpPr>
        <p:spPr>
          <a:xfrm>
            <a:off x="3048000" y="37490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Repositories, pull requests, build pipelines, releases, deployment controls and dependencies</a:t>
            </a:r>
            <a:endParaRPr lang="en-US" sz="1500" dirty="0"/>
          </a:p>
        </p:txBody>
      </p:sp>
      <p:sp>
        <p:nvSpPr>
          <p:cNvPr id="10" name="Text 8"/>
          <p:cNvSpPr/>
          <p:nvPr/>
        </p:nvSpPr>
        <p:spPr>
          <a:xfrm>
            <a:off x="812800" y="4142714"/>
            <a:ext cx="20929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A65A"/>
                </a:solidFill>
                <a:latin typeface="IBM Plex Sans" pitchFamily="34" charset="0"/>
                <a:ea typeface="IBM Plex Sans" pitchFamily="34" charset="-122"/>
                <a:cs typeface="IBM Plex Sans" pitchFamily="34" charset="-120"/>
              </a:rPr>
              <a:t>Execution model</a:t>
            </a:r>
            <a:endParaRPr lang="en-US" sz="1500" dirty="0"/>
          </a:p>
        </p:txBody>
      </p:sp>
      <p:sp>
        <p:nvSpPr>
          <p:cNvPr id="11" name="Text 9"/>
          <p:cNvSpPr/>
          <p:nvPr/>
        </p:nvSpPr>
        <p:spPr>
          <a:xfrm>
            <a:off x="3048000" y="4142714"/>
            <a:ext cx="85811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Internally owned, phased migration with validation and rollback</a:t>
            </a:r>
            <a:endParaRPr lang="en-US" sz="1500" dirty="0"/>
          </a:p>
        </p:txBody>
      </p:sp>
      <p:sp>
        <p:nvSpPr>
          <p:cNvPr id="12" name="Shape 10"/>
          <p:cNvSpPr/>
          <p:nvPr/>
        </p:nvSpPr>
        <p:spPr>
          <a:xfrm>
            <a:off x="825500" y="5410200"/>
            <a:ext cx="0" cy="635000"/>
          </a:xfrm>
          <a:prstGeom prst="line">
            <a:avLst/>
          </a:prstGeom>
          <a:noFill/>
          <a:ln w="25400">
            <a:solidFill>
              <a:srgbClr val="F2A65A"/>
            </a:solidFill>
            <a:prstDash val="solid"/>
          </a:ln>
        </p:spPr>
      </p:sp>
      <p:sp>
        <p:nvSpPr>
          <p:cNvPr id="13" name="Text 11"/>
          <p:cNvSpPr/>
          <p:nvPr/>
        </p:nvSpPr>
        <p:spPr>
          <a:xfrm>
            <a:off x="1041400" y="5461000"/>
            <a:ext cx="1064793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Objective:</a:t>
            </a:r>
            <a:r>
              <a:rPr lang="en-US" sz="1500" dirty="0">
                <a:solidFill>
                  <a:srgbClr val="F6F4EE"/>
                </a:solidFill>
                <a:latin typeface="IBM Plex Sans" pitchFamily="34" charset="0"/>
                <a:ea typeface="IBM Plex Sans" pitchFamily="34" charset="-122"/>
                <a:cs typeface="IBM Plex Sans" pitchFamily="34" charset="-120"/>
              </a:rPr>
              <a:t> move source control and CI/CD to GitHub while preserving infrastructure deployment behavior and improving security.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WHY MIGRATE · ENHANCEMENTS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the business gets from GitHub</a:t>
            </a:r>
            <a:endParaRPr lang="en-US" sz="3200" dirty="0"/>
          </a:p>
        </p:txBody>
      </p:sp>
      <p:sp>
        <p:nvSpPr>
          <p:cNvPr id="4" name="Shape 2"/>
          <p:cNvSpPr/>
          <p:nvPr/>
        </p:nvSpPr>
        <p:spPr>
          <a:xfrm>
            <a:off x="819150" y="1835084"/>
            <a:ext cx="3407833" cy="1506141"/>
          </a:xfrm>
          <a:prstGeom prst="roundRect">
            <a:avLst>
              <a:gd name="adj" fmla="val 6324"/>
            </a:avLst>
          </a:prstGeom>
          <a:solidFill>
            <a:srgbClr val="FDFCF9"/>
          </a:solidFill>
          <a:ln w="12700">
            <a:solidFill>
              <a:srgbClr val="E2DED3"/>
            </a:solidFill>
            <a:prstDash val="solid"/>
          </a:ln>
        </p:spPr>
      </p:sp>
      <p:pic>
        <p:nvPicPr>
          <p:cNvPr id="5" name="Image 0" descr="Lock">    </p:cNvPr>
          <p:cNvPicPr>
            <a:picLocks noChangeAspect="1"/>
          </p:cNvPicPr>
          <p:nvPr/>
        </p:nvPicPr>
        <p:blipFill>
          <a:blip r:embed="rId1"/>
          <a:srcRect l="0" r="0" t="0" b="0"/>
          <a:stretch/>
        </p:blipFill>
        <p:spPr>
          <a:xfrm>
            <a:off x="1028700" y="2044634"/>
            <a:ext cx="279400" cy="279400"/>
          </a:xfrm>
          <a:prstGeom prst="rect">
            <a:avLst/>
          </a:prstGeom>
        </p:spPr>
      </p:pic>
      <p:sp>
        <p:nvSpPr>
          <p:cNvPr id="6" name="Text 3"/>
          <p:cNvSpPr/>
          <p:nvPr/>
        </p:nvSpPr>
        <p:spPr>
          <a:xfrm>
            <a:off x="1028700" y="2400234"/>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No long-lived secrets</a:t>
            </a:r>
            <a:endParaRPr lang="en-US" sz="1500" dirty="0"/>
          </a:p>
        </p:txBody>
      </p:sp>
      <p:sp>
        <p:nvSpPr>
          <p:cNvPr id="7" name="Text 4"/>
          <p:cNvSpPr/>
          <p:nvPr/>
        </p:nvSpPr>
        <p:spPr>
          <a:xfrm>
            <a:off x="1028700" y="2705034"/>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OIDC federated identity replaces stored service connection credentials.</a:t>
            </a:r>
            <a:endParaRPr lang="en-US" sz="1200" dirty="0"/>
          </a:p>
        </p:txBody>
      </p:sp>
      <p:sp>
        <p:nvSpPr>
          <p:cNvPr id="8" name="Shape 5"/>
          <p:cNvSpPr/>
          <p:nvPr/>
        </p:nvSpPr>
        <p:spPr>
          <a:xfrm>
            <a:off x="4392083" y="1835084"/>
            <a:ext cx="3407833" cy="1506141"/>
          </a:xfrm>
          <a:prstGeom prst="roundRect">
            <a:avLst>
              <a:gd name="adj" fmla="val 6324"/>
            </a:avLst>
          </a:prstGeom>
          <a:solidFill>
            <a:srgbClr val="FDFCF9"/>
          </a:solidFill>
          <a:ln w="12700">
            <a:solidFill>
              <a:srgbClr val="E2DED3"/>
            </a:solidFill>
            <a:prstDash val="solid"/>
          </a:ln>
        </p:spPr>
      </p:sp>
      <p:pic>
        <p:nvPicPr>
          <p:cNvPr id="9" name="Image 1" descr="Code">    </p:cNvPr>
          <p:cNvPicPr>
            <a:picLocks noChangeAspect="1"/>
          </p:cNvPicPr>
          <p:nvPr/>
        </p:nvPicPr>
        <p:blipFill>
          <a:blip r:embed="rId2"/>
          <a:srcRect l="0" r="0" t="0" b="0"/>
          <a:stretch/>
        </p:blipFill>
        <p:spPr>
          <a:xfrm>
            <a:off x="4601633" y="2044634"/>
            <a:ext cx="279400" cy="279400"/>
          </a:xfrm>
          <a:prstGeom prst="rect">
            <a:avLst/>
          </a:prstGeom>
        </p:spPr>
      </p:pic>
      <p:sp>
        <p:nvSpPr>
          <p:cNvPr id="10" name="Text 6"/>
          <p:cNvSpPr/>
          <p:nvPr/>
        </p:nvSpPr>
        <p:spPr>
          <a:xfrm>
            <a:off x="4601633" y="2400234"/>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Releases as code</a:t>
            </a:r>
            <a:endParaRPr lang="en-US" sz="1500" dirty="0"/>
          </a:p>
        </p:txBody>
      </p:sp>
      <p:sp>
        <p:nvSpPr>
          <p:cNvPr id="11" name="Text 7"/>
          <p:cNvSpPr/>
          <p:nvPr/>
        </p:nvSpPr>
        <p:spPr>
          <a:xfrm>
            <a:off x="4601633" y="2705034"/>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302 classic UI releases become versioned, reviewed workflows.</a:t>
            </a:r>
            <a:endParaRPr lang="en-US" sz="1200" dirty="0"/>
          </a:p>
        </p:txBody>
      </p:sp>
      <p:sp>
        <p:nvSpPr>
          <p:cNvPr id="12" name="Shape 8"/>
          <p:cNvSpPr/>
          <p:nvPr/>
        </p:nvSpPr>
        <p:spPr>
          <a:xfrm>
            <a:off x="7965017" y="1835084"/>
            <a:ext cx="3407833" cy="1506141"/>
          </a:xfrm>
          <a:prstGeom prst="roundRect">
            <a:avLst>
              <a:gd name="adj" fmla="val 6324"/>
            </a:avLst>
          </a:prstGeom>
          <a:solidFill>
            <a:srgbClr val="FDFCF9"/>
          </a:solidFill>
          <a:ln w="12700">
            <a:solidFill>
              <a:srgbClr val="E2DED3"/>
            </a:solidFill>
            <a:prstDash val="solid"/>
          </a:ln>
        </p:spPr>
      </p:sp>
      <p:pic>
        <p:nvPicPr>
          <p:cNvPr id="13" name="Image 2" descr="Cloud">    </p:cNvPr>
          <p:cNvPicPr>
            <a:picLocks noChangeAspect="1"/>
          </p:cNvPicPr>
          <p:nvPr/>
        </p:nvPicPr>
        <p:blipFill>
          <a:blip r:embed="rId3"/>
          <a:srcRect l="0" r="0" t="0" b="0"/>
          <a:stretch/>
        </p:blipFill>
        <p:spPr>
          <a:xfrm>
            <a:off x="8174567" y="2044634"/>
            <a:ext cx="279400" cy="279400"/>
          </a:xfrm>
          <a:prstGeom prst="rect">
            <a:avLst/>
          </a:prstGeom>
        </p:spPr>
      </p:pic>
      <p:sp>
        <p:nvSpPr>
          <p:cNvPr id="14" name="Text 9"/>
          <p:cNvSpPr/>
          <p:nvPr/>
        </p:nvSpPr>
        <p:spPr>
          <a:xfrm>
            <a:off x="8174567" y="2400234"/>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Elastic runners</a:t>
            </a:r>
            <a:endParaRPr lang="en-US" sz="1500" dirty="0"/>
          </a:p>
        </p:txBody>
      </p:sp>
      <p:sp>
        <p:nvSpPr>
          <p:cNvPr id="15" name="Text 10"/>
          <p:cNvSpPr/>
          <p:nvPr/>
        </p:nvSpPr>
        <p:spPr>
          <a:xfrm>
            <a:off x="8174567" y="2705034"/>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Container Apps runners scale with demand and start clean for each job.</a:t>
            </a:r>
            <a:endParaRPr lang="en-US" sz="1200" dirty="0"/>
          </a:p>
        </p:txBody>
      </p:sp>
      <p:sp>
        <p:nvSpPr>
          <p:cNvPr id="16" name="Shape 11"/>
          <p:cNvSpPr/>
          <p:nvPr/>
        </p:nvSpPr>
        <p:spPr>
          <a:xfrm>
            <a:off x="819150" y="3506325"/>
            <a:ext cx="3407833" cy="1506141"/>
          </a:xfrm>
          <a:prstGeom prst="roundRect">
            <a:avLst>
              <a:gd name="adj" fmla="val 6324"/>
            </a:avLst>
          </a:prstGeom>
          <a:solidFill>
            <a:srgbClr val="FDFCF9"/>
          </a:solidFill>
          <a:ln w="12700">
            <a:solidFill>
              <a:srgbClr val="E2DED3"/>
            </a:solidFill>
            <a:prstDash val="solid"/>
          </a:ln>
        </p:spPr>
      </p:sp>
      <p:pic>
        <p:nvPicPr>
          <p:cNvPr id="17" name="Image 3" descr="Verified">    </p:cNvPr>
          <p:cNvPicPr>
            <a:picLocks noChangeAspect="1"/>
          </p:cNvPicPr>
          <p:nvPr/>
        </p:nvPicPr>
        <p:blipFill>
          <a:blip r:embed="rId4"/>
          <a:srcRect l="0" r="0" t="0" b="0"/>
          <a:stretch/>
        </p:blipFill>
        <p:spPr>
          <a:xfrm>
            <a:off x="1028700" y="3715875"/>
            <a:ext cx="279400" cy="279400"/>
          </a:xfrm>
          <a:prstGeom prst="rect">
            <a:avLst/>
          </a:prstGeom>
        </p:spPr>
      </p:pic>
      <p:sp>
        <p:nvSpPr>
          <p:cNvPr id="18" name="Text 12"/>
          <p:cNvSpPr/>
          <p:nvPr/>
        </p:nvSpPr>
        <p:spPr>
          <a:xfrm>
            <a:off x="1028700" y="4071475"/>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Stronger approvals</a:t>
            </a:r>
            <a:endParaRPr lang="en-US" sz="1500" dirty="0"/>
          </a:p>
        </p:txBody>
      </p:sp>
      <p:sp>
        <p:nvSpPr>
          <p:cNvPr id="19" name="Text 13"/>
          <p:cNvSpPr/>
          <p:nvPr/>
        </p:nvSpPr>
        <p:spPr>
          <a:xfrm>
            <a:off x="1028700" y="4376275"/>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Rulesets, CODEOWNERS and environment reviewers, all audited.</a:t>
            </a:r>
            <a:endParaRPr lang="en-US" sz="1200" dirty="0"/>
          </a:p>
        </p:txBody>
      </p:sp>
      <p:sp>
        <p:nvSpPr>
          <p:cNvPr id="20" name="Shape 14"/>
          <p:cNvSpPr/>
          <p:nvPr/>
        </p:nvSpPr>
        <p:spPr>
          <a:xfrm>
            <a:off x="4392083" y="3506325"/>
            <a:ext cx="3407833" cy="1506141"/>
          </a:xfrm>
          <a:prstGeom prst="roundRect">
            <a:avLst>
              <a:gd name="adj" fmla="val 6324"/>
            </a:avLst>
          </a:prstGeom>
          <a:solidFill>
            <a:srgbClr val="FDFCF9"/>
          </a:solidFill>
          <a:ln w="12700">
            <a:solidFill>
              <a:srgbClr val="E2DED3"/>
            </a:solidFill>
            <a:prstDash val="solid"/>
          </a:ln>
        </p:spPr>
      </p:sp>
      <p:pic>
        <p:nvPicPr>
          <p:cNvPr id="21" name="Image 4" descr="Users">    </p:cNvPr>
          <p:cNvPicPr>
            <a:picLocks noChangeAspect="1"/>
          </p:cNvPicPr>
          <p:nvPr/>
        </p:nvPicPr>
        <p:blipFill>
          <a:blip r:embed="rId5"/>
          <a:srcRect l="0" r="0" t="0" b="0"/>
          <a:stretch/>
        </p:blipFill>
        <p:spPr>
          <a:xfrm>
            <a:off x="4601633" y="3715875"/>
            <a:ext cx="279400" cy="279400"/>
          </a:xfrm>
          <a:prstGeom prst="rect">
            <a:avLst/>
          </a:prstGeom>
        </p:spPr>
      </p:pic>
      <p:sp>
        <p:nvSpPr>
          <p:cNvPr id="22" name="Text 15"/>
          <p:cNvSpPr/>
          <p:nvPr/>
        </p:nvSpPr>
        <p:spPr>
          <a:xfrm>
            <a:off x="4601633" y="4071475"/>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Access by team</a:t>
            </a:r>
            <a:endParaRPr lang="en-US" sz="1500" dirty="0"/>
          </a:p>
        </p:txBody>
      </p:sp>
      <p:sp>
        <p:nvSpPr>
          <p:cNvPr id="23" name="Text 16"/>
          <p:cNvSpPr/>
          <p:nvPr/>
        </p:nvSpPr>
        <p:spPr>
          <a:xfrm>
            <a:off x="4601633" y="4376275"/>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Entra ID groups map to GitHub teams with least-privilege roles.</a:t>
            </a:r>
            <a:endParaRPr lang="en-US" sz="1200" dirty="0"/>
          </a:p>
        </p:txBody>
      </p:sp>
      <p:sp>
        <p:nvSpPr>
          <p:cNvPr id="24" name="Shape 17"/>
          <p:cNvSpPr/>
          <p:nvPr/>
        </p:nvSpPr>
        <p:spPr>
          <a:xfrm>
            <a:off x="7965017" y="3506325"/>
            <a:ext cx="3407833" cy="1506141"/>
          </a:xfrm>
          <a:prstGeom prst="roundRect">
            <a:avLst>
              <a:gd name="adj" fmla="val 6324"/>
            </a:avLst>
          </a:prstGeom>
          <a:solidFill>
            <a:srgbClr val="FDFCF9"/>
          </a:solidFill>
          <a:ln w="12700">
            <a:solidFill>
              <a:srgbClr val="E2DED3"/>
            </a:solidFill>
            <a:prstDash val="solid"/>
          </a:ln>
        </p:spPr>
      </p:sp>
      <p:pic>
        <p:nvPicPr>
          <p:cNvPr id="25" name="Image 5" descr="Link">    </p:cNvPr>
          <p:cNvPicPr>
            <a:picLocks noChangeAspect="1"/>
          </p:cNvPicPr>
          <p:nvPr/>
        </p:nvPicPr>
        <p:blipFill>
          <a:blip r:embed="rId6"/>
          <a:srcRect l="0" r="0" t="0" b="0"/>
          <a:stretch/>
        </p:blipFill>
        <p:spPr>
          <a:xfrm>
            <a:off x="8174567" y="3715875"/>
            <a:ext cx="279400" cy="279400"/>
          </a:xfrm>
          <a:prstGeom prst="rect">
            <a:avLst/>
          </a:prstGeom>
        </p:spPr>
      </p:pic>
      <p:sp>
        <p:nvSpPr>
          <p:cNvPr id="26" name="Text 18"/>
          <p:cNvSpPr/>
          <p:nvPr/>
        </p:nvSpPr>
        <p:spPr>
          <a:xfrm>
            <a:off x="8174567" y="4071475"/>
            <a:ext cx="3078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One place to work</a:t>
            </a:r>
            <a:endParaRPr lang="en-US" sz="1500" dirty="0"/>
          </a:p>
        </p:txBody>
      </p:sp>
      <p:sp>
        <p:nvSpPr>
          <p:cNvPr id="27" name="Text 19"/>
          <p:cNvSpPr/>
          <p:nvPr/>
        </p:nvSpPr>
        <p:spPr>
          <a:xfrm>
            <a:off x="8174567" y="4376275"/>
            <a:ext cx="30783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Code, PRs, workflows and reusable templates live together.</a:t>
            </a:r>
            <a:endParaRPr lang="en-US" sz="12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AZURE DEVOPS TODAY</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Where we are today</a:t>
            </a:r>
            <a:endParaRPr lang="en-US" sz="3200" dirty="0"/>
          </a:p>
        </p:txBody>
      </p:sp>
      <p:sp>
        <p:nvSpPr>
          <p:cNvPr id="4" name="Shape 2"/>
          <p:cNvSpPr/>
          <p:nvPr/>
        </p:nvSpPr>
        <p:spPr>
          <a:xfrm>
            <a:off x="819150" y="1835085"/>
            <a:ext cx="2514600" cy="1417241"/>
          </a:xfrm>
          <a:prstGeom prst="roundRect">
            <a:avLst>
              <a:gd name="adj" fmla="val 6721"/>
            </a:avLst>
          </a:prstGeom>
          <a:solidFill>
            <a:srgbClr val="FDFCF9"/>
          </a:solidFill>
          <a:ln w="12700">
            <a:solidFill>
              <a:srgbClr val="E2DED3"/>
            </a:solidFill>
            <a:prstDash val="solid"/>
          </a:ln>
        </p:spPr>
      </p:sp>
      <p:sp>
        <p:nvSpPr>
          <p:cNvPr id="5" name="Text 3"/>
          <p:cNvSpPr/>
          <p:nvPr/>
        </p:nvSpPr>
        <p:spPr>
          <a:xfrm>
            <a:off x="10033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23</a:t>
            </a:r>
            <a:endParaRPr lang="en-US" sz="3600" dirty="0"/>
          </a:p>
        </p:txBody>
      </p:sp>
      <p:sp>
        <p:nvSpPr>
          <p:cNvPr id="6" name="Text 4"/>
          <p:cNvSpPr/>
          <p:nvPr/>
        </p:nvSpPr>
        <p:spPr>
          <a:xfrm>
            <a:off x="10033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Repositories</a:t>
            </a:r>
            <a:endParaRPr lang="en-US" sz="1300" dirty="0"/>
          </a:p>
        </p:txBody>
      </p:sp>
      <p:sp>
        <p:nvSpPr>
          <p:cNvPr id="7" name="Text 5"/>
          <p:cNvSpPr/>
          <p:nvPr/>
        </p:nvSpPr>
        <p:spPr>
          <a:xfrm>
            <a:off x="10033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In original inventory</a:t>
            </a:r>
            <a:endParaRPr lang="en-US" sz="1200" dirty="0"/>
          </a:p>
        </p:txBody>
      </p:sp>
      <p:sp>
        <p:nvSpPr>
          <p:cNvPr id="8" name="Shape 6"/>
          <p:cNvSpPr/>
          <p:nvPr/>
        </p:nvSpPr>
        <p:spPr>
          <a:xfrm>
            <a:off x="3498850" y="1835085"/>
            <a:ext cx="2514600" cy="1417241"/>
          </a:xfrm>
          <a:prstGeom prst="roundRect">
            <a:avLst>
              <a:gd name="adj" fmla="val 6721"/>
            </a:avLst>
          </a:prstGeom>
          <a:solidFill>
            <a:srgbClr val="FDFCF9"/>
          </a:solidFill>
          <a:ln w="12700">
            <a:solidFill>
              <a:srgbClr val="E2DED3"/>
            </a:solidFill>
            <a:prstDash val="solid"/>
          </a:ln>
        </p:spPr>
      </p:sp>
      <p:sp>
        <p:nvSpPr>
          <p:cNvPr id="9" name="Text 7"/>
          <p:cNvSpPr/>
          <p:nvPr/>
        </p:nvSpPr>
        <p:spPr>
          <a:xfrm>
            <a:off x="36830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142</a:t>
            </a:r>
            <a:endParaRPr lang="en-US" sz="3600" dirty="0"/>
          </a:p>
        </p:txBody>
      </p:sp>
      <p:sp>
        <p:nvSpPr>
          <p:cNvPr id="10" name="Text 8"/>
          <p:cNvSpPr/>
          <p:nvPr/>
        </p:nvSpPr>
        <p:spPr>
          <a:xfrm>
            <a:off x="36830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Build definitions</a:t>
            </a:r>
            <a:endParaRPr lang="en-US" sz="1300" dirty="0"/>
          </a:p>
        </p:txBody>
      </p:sp>
      <p:sp>
        <p:nvSpPr>
          <p:cNvPr id="11" name="Text 9"/>
          <p:cNvSpPr/>
          <p:nvPr/>
        </p:nvSpPr>
        <p:spPr>
          <a:xfrm>
            <a:off x="36830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125 YAML, 17 classic</a:t>
            </a:r>
            <a:endParaRPr lang="en-US" sz="1200" dirty="0"/>
          </a:p>
        </p:txBody>
      </p:sp>
      <p:sp>
        <p:nvSpPr>
          <p:cNvPr id="12" name="Shape 10"/>
          <p:cNvSpPr/>
          <p:nvPr/>
        </p:nvSpPr>
        <p:spPr>
          <a:xfrm>
            <a:off x="6178550" y="1835085"/>
            <a:ext cx="2514600" cy="1417241"/>
          </a:xfrm>
          <a:prstGeom prst="roundRect">
            <a:avLst>
              <a:gd name="adj" fmla="val 6721"/>
            </a:avLst>
          </a:prstGeom>
          <a:solidFill>
            <a:srgbClr val="FDFCF9"/>
          </a:solidFill>
          <a:ln w="12700">
            <a:solidFill>
              <a:srgbClr val="E2DED3"/>
            </a:solidFill>
            <a:prstDash val="solid"/>
          </a:ln>
        </p:spPr>
      </p:sp>
      <p:sp>
        <p:nvSpPr>
          <p:cNvPr id="13" name="Text 11"/>
          <p:cNvSpPr/>
          <p:nvPr/>
        </p:nvSpPr>
        <p:spPr>
          <a:xfrm>
            <a:off x="63627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8481B"/>
                </a:solidFill>
                <a:latin typeface="IBM Plex Sans" pitchFamily="34" charset="0"/>
                <a:ea typeface="IBM Plex Sans" pitchFamily="34" charset="-122"/>
                <a:cs typeface="IBM Plex Sans" pitchFamily="34" charset="-120"/>
              </a:rPr>
              <a:t>302</a:t>
            </a:r>
            <a:endParaRPr lang="en-US" sz="3600" dirty="0"/>
          </a:p>
        </p:txBody>
      </p:sp>
      <p:sp>
        <p:nvSpPr>
          <p:cNvPr id="14" name="Text 12"/>
          <p:cNvSpPr/>
          <p:nvPr/>
        </p:nvSpPr>
        <p:spPr>
          <a:xfrm>
            <a:off x="63627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Classic releases</a:t>
            </a:r>
            <a:endParaRPr lang="en-US" sz="1300" dirty="0"/>
          </a:p>
        </p:txBody>
      </p:sp>
      <p:sp>
        <p:nvSpPr>
          <p:cNvPr id="15" name="Text 13"/>
          <p:cNvSpPr/>
          <p:nvPr/>
        </p:nvSpPr>
        <p:spPr>
          <a:xfrm>
            <a:off x="63627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Release definitions</a:t>
            </a:r>
            <a:endParaRPr lang="en-US" sz="1200" dirty="0"/>
          </a:p>
        </p:txBody>
      </p:sp>
      <p:sp>
        <p:nvSpPr>
          <p:cNvPr id="16" name="Shape 14"/>
          <p:cNvSpPr/>
          <p:nvPr/>
        </p:nvSpPr>
        <p:spPr>
          <a:xfrm>
            <a:off x="8858250" y="1835085"/>
            <a:ext cx="2514600" cy="1417241"/>
          </a:xfrm>
          <a:prstGeom prst="roundRect">
            <a:avLst>
              <a:gd name="adj" fmla="val 6721"/>
            </a:avLst>
          </a:prstGeom>
          <a:solidFill>
            <a:srgbClr val="FDFCF9"/>
          </a:solidFill>
          <a:ln w="12700">
            <a:solidFill>
              <a:srgbClr val="E2DED3"/>
            </a:solidFill>
            <a:prstDash val="solid"/>
          </a:ln>
        </p:spPr>
      </p:sp>
      <p:sp>
        <p:nvSpPr>
          <p:cNvPr id="17" name="Text 15"/>
          <p:cNvSpPr/>
          <p:nvPr/>
        </p:nvSpPr>
        <p:spPr>
          <a:xfrm>
            <a:off x="9042400" y="2019235"/>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103</a:t>
            </a:r>
            <a:endParaRPr lang="en-US" sz="3600" dirty="0"/>
          </a:p>
        </p:txBody>
      </p:sp>
      <p:sp>
        <p:nvSpPr>
          <p:cNvPr id="18" name="Text 16"/>
          <p:cNvSpPr/>
          <p:nvPr/>
        </p:nvSpPr>
        <p:spPr>
          <a:xfrm>
            <a:off x="9042400" y="257294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Service connections</a:t>
            </a:r>
            <a:endParaRPr lang="en-US" sz="1300" dirty="0"/>
          </a:p>
        </p:txBody>
      </p:sp>
      <p:sp>
        <p:nvSpPr>
          <p:cNvPr id="19" name="Text 17"/>
          <p:cNvSpPr/>
          <p:nvPr/>
        </p:nvSpPr>
        <p:spPr>
          <a:xfrm>
            <a:off x="9042400" y="2854855"/>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To remap to identities</a:t>
            </a:r>
            <a:endParaRPr lang="en-US" sz="1200" dirty="0"/>
          </a:p>
        </p:txBody>
      </p:sp>
      <p:sp>
        <p:nvSpPr>
          <p:cNvPr id="20" name="Shape 18"/>
          <p:cNvSpPr/>
          <p:nvPr/>
        </p:nvSpPr>
        <p:spPr>
          <a:xfrm>
            <a:off x="819150" y="3417426"/>
            <a:ext cx="2514600" cy="1417241"/>
          </a:xfrm>
          <a:prstGeom prst="roundRect">
            <a:avLst>
              <a:gd name="adj" fmla="val 6721"/>
            </a:avLst>
          </a:prstGeom>
          <a:solidFill>
            <a:srgbClr val="FDFCF9"/>
          </a:solidFill>
          <a:ln w="12700">
            <a:solidFill>
              <a:srgbClr val="E2DED3"/>
            </a:solidFill>
            <a:prstDash val="solid"/>
          </a:ln>
        </p:spPr>
      </p:sp>
      <p:sp>
        <p:nvSpPr>
          <p:cNvPr id="21" name="Text 19"/>
          <p:cNvSpPr/>
          <p:nvPr/>
        </p:nvSpPr>
        <p:spPr>
          <a:xfrm>
            <a:off x="10033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5</a:t>
            </a:r>
            <a:endParaRPr lang="en-US" sz="3600" dirty="0"/>
          </a:p>
        </p:txBody>
      </p:sp>
      <p:sp>
        <p:nvSpPr>
          <p:cNvPr id="22" name="Text 20"/>
          <p:cNvSpPr/>
          <p:nvPr/>
        </p:nvSpPr>
        <p:spPr>
          <a:xfrm>
            <a:off x="10033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Artifact feeds</a:t>
            </a:r>
            <a:endParaRPr lang="en-US" sz="1300" dirty="0"/>
          </a:p>
        </p:txBody>
      </p:sp>
      <p:sp>
        <p:nvSpPr>
          <p:cNvPr id="23" name="Text 21"/>
          <p:cNvSpPr/>
          <p:nvPr/>
        </p:nvSpPr>
        <p:spPr>
          <a:xfrm>
            <a:off x="10033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Package registries</a:t>
            </a:r>
            <a:endParaRPr lang="en-US" sz="1200" dirty="0"/>
          </a:p>
        </p:txBody>
      </p:sp>
      <p:sp>
        <p:nvSpPr>
          <p:cNvPr id="24" name="Shape 22"/>
          <p:cNvSpPr/>
          <p:nvPr/>
        </p:nvSpPr>
        <p:spPr>
          <a:xfrm>
            <a:off x="3498850" y="3417426"/>
            <a:ext cx="2514600" cy="1417241"/>
          </a:xfrm>
          <a:prstGeom prst="roundRect">
            <a:avLst>
              <a:gd name="adj" fmla="val 6721"/>
            </a:avLst>
          </a:prstGeom>
          <a:solidFill>
            <a:srgbClr val="FDFCF9"/>
          </a:solidFill>
          <a:ln w="12700">
            <a:solidFill>
              <a:srgbClr val="E2DED3"/>
            </a:solidFill>
            <a:prstDash val="solid"/>
          </a:ln>
        </p:spPr>
      </p:sp>
      <p:sp>
        <p:nvSpPr>
          <p:cNvPr id="25" name="Text 23"/>
          <p:cNvSpPr/>
          <p:nvPr/>
        </p:nvSpPr>
        <p:spPr>
          <a:xfrm>
            <a:off x="36830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57</a:t>
            </a:r>
            <a:endParaRPr lang="en-US" sz="3600" dirty="0"/>
          </a:p>
        </p:txBody>
      </p:sp>
      <p:sp>
        <p:nvSpPr>
          <p:cNvPr id="26" name="Text 24"/>
          <p:cNvSpPr/>
          <p:nvPr/>
        </p:nvSpPr>
        <p:spPr>
          <a:xfrm>
            <a:off x="36830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Variable groups</a:t>
            </a:r>
            <a:endParaRPr lang="en-US" sz="1300" dirty="0"/>
          </a:p>
        </p:txBody>
      </p:sp>
      <p:sp>
        <p:nvSpPr>
          <p:cNvPr id="27" name="Text 25"/>
          <p:cNvSpPr/>
          <p:nvPr/>
        </p:nvSpPr>
        <p:spPr>
          <a:xfrm>
            <a:off x="36830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Observed</a:t>
            </a:r>
            <a:endParaRPr lang="en-US" sz="1200" dirty="0"/>
          </a:p>
        </p:txBody>
      </p:sp>
      <p:sp>
        <p:nvSpPr>
          <p:cNvPr id="28" name="Shape 26"/>
          <p:cNvSpPr/>
          <p:nvPr/>
        </p:nvSpPr>
        <p:spPr>
          <a:xfrm>
            <a:off x="6178550" y="3417426"/>
            <a:ext cx="2514600" cy="1417241"/>
          </a:xfrm>
          <a:prstGeom prst="roundRect">
            <a:avLst>
              <a:gd name="adj" fmla="val 6721"/>
            </a:avLst>
          </a:prstGeom>
          <a:solidFill>
            <a:srgbClr val="FDFCF9"/>
          </a:solidFill>
          <a:ln w="12700">
            <a:solidFill>
              <a:srgbClr val="E2DED3"/>
            </a:solidFill>
            <a:prstDash val="solid"/>
          </a:ln>
        </p:spPr>
      </p:sp>
      <p:sp>
        <p:nvSpPr>
          <p:cNvPr id="29" name="Text 27"/>
          <p:cNvSpPr/>
          <p:nvPr/>
        </p:nvSpPr>
        <p:spPr>
          <a:xfrm>
            <a:off x="63627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106</a:t>
            </a:r>
            <a:endParaRPr lang="en-US" sz="3600" dirty="0"/>
          </a:p>
        </p:txBody>
      </p:sp>
      <p:sp>
        <p:nvSpPr>
          <p:cNvPr id="30" name="Text 28"/>
          <p:cNvSpPr/>
          <p:nvPr/>
        </p:nvSpPr>
        <p:spPr>
          <a:xfrm>
            <a:off x="63627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YAML environments</a:t>
            </a:r>
            <a:endParaRPr lang="en-US" sz="1300" dirty="0"/>
          </a:p>
        </p:txBody>
      </p:sp>
      <p:sp>
        <p:nvSpPr>
          <p:cNvPr id="31" name="Text 29"/>
          <p:cNvSpPr/>
          <p:nvPr/>
        </p:nvSpPr>
        <p:spPr>
          <a:xfrm>
            <a:off x="63627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Observed</a:t>
            </a:r>
            <a:endParaRPr lang="en-US" sz="1200" dirty="0"/>
          </a:p>
        </p:txBody>
      </p:sp>
      <p:sp>
        <p:nvSpPr>
          <p:cNvPr id="32" name="Shape 30"/>
          <p:cNvSpPr/>
          <p:nvPr/>
        </p:nvSpPr>
        <p:spPr>
          <a:xfrm>
            <a:off x="8858250" y="3417426"/>
            <a:ext cx="2514600" cy="1417241"/>
          </a:xfrm>
          <a:prstGeom prst="roundRect">
            <a:avLst>
              <a:gd name="adj" fmla="val 6721"/>
            </a:avLst>
          </a:prstGeom>
          <a:solidFill>
            <a:srgbClr val="FDFCF9"/>
          </a:solidFill>
          <a:ln w="12700">
            <a:solidFill>
              <a:srgbClr val="E2DED3"/>
            </a:solidFill>
            <a:prstDash val="solid"/>
          </a:ln>
        </p:spPr>
      </p:sp>
      <p:sp>
        <p:nvSpPr>
          <p:cNvPr id="33" name="Text 31"/>
          <p:cNvSpPr/>
          <p:nvPr/>
        </p:nvSpPr>
        <p:spPr>
          <a:xfrm>
            <a:off x="9042400" y="3601576"/>
            <a:ext cx="2210689"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213D"/>
                </a:solidFill>
                <a:latin typeface="IBM Plex Sans" pitchFamily="34" charset="0"/>
                <a:ea typeface="IBM Plex Sans" pitchFamily="34" charset="-122"/>
                <a:cs typeface="IBM Plex Sans" pitchFamily="34" charset="-120"/>
              </a:rPr>
              <a:t>67</a:t>
            </a:r>
            <a:endParaRPr lang="en-US" sz="3600" dirty="0"/>
          </a:p>
        </p:txBody>
      </p:sp>
      <p:sp>
        <p:nvSpPr>
          <p:cNvPr id="34" name="Text 32"/>
          <p:cNvSpPr/>
          <p:nvPr/>
        </p:nvSpPr>
        <p:spPr>
          <a:xfrm>
            <a:off x="9042400" y="4155281"/>
            <a:ext cx="221068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Pull requests</a:t>
            </a:r>
            <a:endParaRPr lang="en-US" sz="1300" dirty="0"/>
          </a:p>
        </p:txBody>
      </p:sp>
      <p:sp>
        <p:nvSpPr>
          <p:cNvPr id="35" name="Text 33"/>
          <p:cNvSpPr/>
          <p:nvPr/>
        </p:nvSpPr>
        <p:spPr>
          <a:xfrm>
            <a:off x="9042400" y="4437196"/>
            <a:ext cx="22106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4"/>
                </a:solidFill>
                <a:latin typeface="IBM Plex Sans" pitchFamily="34" charset="0"/>
                <a:ea typeface="IBM Plex Sans" pitchFamily="34" charset="-122"/>
                <a:cs typeface="IBM Plex Sans" pitchFamily="34" charset="-120"/>
              </a:rPr>
              <a:t>Observed, 10 active</a:t>
            </a:r>
            <a:endParaRPr lang="en-US" sz="1200" dirty="0"/>
          </a:p>
        </p:txBody>
      </p:sp>
      <p:sp>
        <p:nvSpPr>
          <p:cNvPr id="36" name="Text 34"/>
          <p:cNvSpPr/>
          <p:nvPr/>
        </p:nvSpPr>
        <p:spPr>
          <a:xfrm>
            <a:off x="812800" y="5095016"/>
            <a:ext cx="10883392"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Status:</a:t>
            </a:r>
            <a:r>
              <a:rPr lang="en-US" sz="1300" dirty="0">
                <a:solidFill>
                  <a:srgbClr val="4A5568"/>
                </a:solidFill>
                <a:latin typeface="IBM Plex Sans" pitchFamily="34" charset="0"/>
                <a:ea typeface="IBM Plex Sans" pitchFamily="34" charset="-122"/>
                <a:cs typeface="IBM Plex Sans" pitchFamily="34" charset="-120"/>
              </a:rPr>
              <a:t> inventory is substantially collected, but detailed dependency and conversion assessment is </a:t>
            </a:r>
            <a:r>
              <a:rPr lang="en-US" sz="1300" b="1" dirty="0">
                <a:solidFill>
                  <a:srgbClr val="A8481B"/>
                </a:solidFill>
                <a:latin typeface="IBM Plex Sans" pitchFamily="34" charset="0"/>
                <a:ea typeface="IBM Plex Sans" pitchFamily="34" charset="-122"/>
                <a:cs typeface="IBM Plex Sans" pitchFamily="34" charset="-120"/>
              </a:rPr>
              <a:t>not complete</a:t>
            </a:r>
            <a:r>
              <a:rPr lang="en-US" sz="1300" dirty="0">
                <a:solidFill>
                  <a:srgbClr val="4A5568"/>
                </a:solidFill>
                <a:latin typeface="IBM Plex Sans" pitchFamily="34" charset="0"/>
                <a:ea typeface="IBM Plex Sans" pitchFamily="34" charset="-122"/>
                <a:cs typeface="IBM Plex Sans" pitchFamily="34" charset="-120"/>
              </a:rPr>
              <a:t>. Counts are snapshots and must be refreshed before migration.</a:t>
            </a:r>
            <a:endParaRPr lang="en-US" sz="1300" dirty="0"/>
          </a:p>
        </p:txBody>
      </p:sp>
      <p:sp>
        <p:nvSpPr>
          <p:cNvPr id="37"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Sources: assessment metrics, build summary, release summary and read-only ADO checks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AZURE DEVOPS TODAY</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runs in ADO today</a:t>
            </a:r>
            <a:endParaRPr lang="en-US" sz="3200" dirty="0"/>
          </a:p>
        </p:txBody>
      </p:sp>
      <p:sp>
        <p:nvSpPr>
          <p:cNvPr id="4" name="Shape 2"/>
          <p:cNvSpPr/>
          <p:nvPr/>
        </p:nvSpPr>
        <p:spPr>
          <a:xfrm>
            <a:off x="819150" y="1809685"/>
            <a:ext cx="3424767" cy="980347"/>
          </a:xfrm>
          <a:prstGeom prst="roundRect">
            <a:avLst>
              <a:gd name="adj" fmla="val 8420"/>
            </a:avLst>
          </a:prstGeom>
          <a:solidFill>
            <a:srgbClr val="FDFCF9"/>
          </a:solidFill>
          <a:ln w="12700">
            <a:solidFill>
              <a:srgbClr val="E2DED3"/>
            </a:solidFill>
            <a:prstDash val="solid"/>
          </a:ln>
        </p:spPr>
      </p:sp>
      <p:sp>
        <p:nvSpPr>
          <p:cNvPr id="5" name="Text 3"/>
          <p:cNvSpPr/>
          <p:nvPr/>
        </p:nvSpPr>
        <p:spPr>
          <a:xfrm>
            <a:off x="1003300" y="1968435"/>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Repositories · 23</a:t>
            </a:r>
            <a:endParaRPr lang="en-US" sz="1400" dirty="0"/>
          </a:p>
        </p:txBody>
      </p:sp>
      <p:sp>
        <p:nvSpPr>
          <p:cNvPr id="6" name="Text 4"/>
          <p:cNvSpPr/>
          <p:nvPr/>
        </p:nvSpPr>
        <p:spPr>
          <a:xfrm>
            <a:off x="1003300" y="2219855"/>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Terraform modules, Custodian infra, app and data code</a:t>
            </a:r>
            <a:endParaRPr lang="en-US" sz="1200" dirty="0"/>
          </a:p>
        </p:txBody>
      </p:sp>
      <p:sp>
        <p:nvSpPr>
          <p:cNvPr id="7" name="Shape 5"/>
          <p:cNvSpPr/>
          <p:nvPr/>
        </p:nvSpPr>
        <p:spPr>
          <a:xfrm>
            <a:off x="4383617" y="1809685"/>
            <a:ext cx="3424767" cy="980347"/>
          </a:xfrm>
          <a:prstGeom prst="roundRect">
            <a:avLst>
              <a:gd name="adj" fmla="val 8420"/>
            </a:avLst>
          </a:prstGeom>
          <a:solidFill>
            <a:srgbClr val="FDFCF9"/>
          </a:solidFill>
          <a:ln w="12700">
            <a:solidFill>
              <a:srgbClr val="E2DED3"/>
            </a:solidFill>
            <a:prstDash val="solid"/>
          </a:ln>
        </p:spPr>
      </p:sp>
      <p:sp>
        <p:nvSpPr>
          <p:cNvPr id="8" name="Text 6"/>
          <p:cNvSpPr/>
          <p:nvPr/>
        </p:nvSpPr>
        <p:spPr>
          <a:xfrm>
            <a:off x="4567767" y="1968435"/>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YAML pipelines · 125</a:t>
            </a:r>
            <a:endParaRPr lang="en-US" sz="1400" dirty="0"/>
          </a:p>
        </p:txBody>
      </p:sp>
      <p:sp>
        <p:nvSpPr>
          <p:cNvPr id="9" name="Text 7"/>
          <p:cNvSpPr/>
          <p:nvPr/>
        </p:nvSpPr>
        <p:spPr>
          <a:xfrm>
            <a:off x="4567767" y="2219855"/>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Plus 17 classic builds; 81 use Modernization_Terraform</a:t>
            </a:r>
            <a:endParaRPr lang="en-US" sz="1200" dirty="0"/>
          </a:p>
        </p:txBody>
      </p:sp>
      <p:sp>
        <p:nvSpPr>
          <p:cNvPr id="10" name="Shape 8"/>
          <p:cNvSpPr/>
          <p:nvPr/>
        </p:nvSpPr>
        <p:spPr>
          <a:xfrm>
            <a:off x="7948084" y="1809685"/>
            <a:ext cx="3424767" cy="980347"/>
          </a:xfrm>
          <a:prstGeom prst="roundRect">
            <a:avLst>
              <a:gd name="adj" fmla="val 8420"/>
            </a:avLst>
          </a:prstGeom>
          <a:solidFill>
            <a:srgbClr val="FDFCF9"/>
          </a:solidFill>
          <a:ln w="12700">
            <a:solidFill>
              <a:srgbClr val="E2DED3"/>
            </a:solidFill>
            <a:prstDash val="solid"/>
          </a:ln>
        </p:spPr>
      </p:sp>
      <p:sp>
        <p:nvSpPr>
          <p:cNvPr id="11" name="Text 9"/>
          <p:cNvSpPr/>
          <p:nvPr/>
        </p:nvSpPr>
        <p:spPr>
          <a:xfrm>
            <a:off x="8132234" y="1968435"/>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Classic releases · 302</a:t>
            </a:r>
            <a:endParaRPr lang="en-US" sz="1400" dirty="0"/>
          </a:p>
        </p:txBody>
      </p:sp>
      <p:sp>
        <p:nvSpPr>
          <p:cNvPr id="12" name="Text 10"/>
          <p:cNvSpPr/>
          <p:nvPr/>
        </p:nvSpPr>
        <p:spPr>
          <a:xfrm>
            <a:off x="8132234" y="2219855"/>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UI-defined stages, 11,262 approval entries in metadata</a:t>
            </a:r>
            <a:endParaRPr lang="en-US" sz="1200" dirty="0"/>
          </a:p>
        </p:txBody>
      </p:sp>
      <p:sp>
        <p:nvSpPr>
          <p:cNvPr id="13" name="Shape 11"/>
          <p:cNvSpPr/>
          <p:nvPr/>
        </p:nvSpPr>
        <p:spPr>
          <a:xfrm>
            <a:off x="819150" y="2929731"/>
            <a:ext cx="3424767" cy="980347"/>
          </a:xfrm>
          <a:prstGeom prst="roundRect">
            <a:avLst>
              <a:gd name="adj" fmla="val 8420"/>
            </a:avLst>
          </a:prstGeom>
          <a:solidFill>
            <a:srgbClr val="FDFCF9"/>
          </a:solidFill>
          <a:ln w="12700">
            <a:solidFill>
              <a:srgbClr val="E2DED3"/>
            </a:solidFill>
            <a:prstDash val="solid"/>
          </a:ln>
        </p:spPr>
      </p:sp>
      <p:sp>
        <p:nvSpPr>
          <p:cNvPr id="14" name="Text 12"/>
          <p:cNvSpPr/>
          <p:nvPr/>
        </p:nvSpPr>
        <p:spPr>
          <a:xfrm>
            <a:off x="1003300" y="3088481"/>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Self-hosted agents · 460</a:t>
            </a:r>
            <a:endParaRPr lang="en-US" sz="1400" dirty="0"/>
          </a:p>
        </p:txBody>
      </p:sp>
      <p:sp>
        <p:nvSpPr>
          <p:cNvPr id="15" name="Text 13"/>
          <p:cNvSpPr/>
          <p:nvPr/>
        </p:nvSpPr>
        <p:spPr>
          <a:xfrm>
            <a:off x="1003300" y="3339902"/>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10 pools, 266 online when checked (org-wide)</a:t>
            </a:r>
            <a:endParaRPr lang="en-US" sz="1200" dirty="0"/>
          </a:p>
        </p:txBody>
      </p:sp>
      <p:sp>
        <p:nvSpPr>
          <p:cNvPr id="16" name="Shape 14"/>
          <p:cNvSpPr/>
          <p:nvPr/>
        </p:nvSpPr>
        <p:spPr>
          <a:xfrm>
            <a:off x="4383617" y="2929731"/>
            <a:ext cx="3424767" cy="980347"/>
          </a:xfrm>
          <a:prstGeom prst="roundRect">
            <a:avLst>
              <a:gd name="adj" fmla="val 8420"/>
            </a:avLst>
          </a:prstGeom>
          <a:solidFill>
            <a:srgbClr val="FDFCF9"/>
          </a:solidFill>
          <a:ln w="12700">
            <a:solidFill>
              <a:srgbClr val="E2DED3"/>
            </a:solidFill>
            <a:prstDash val="solid"/>
          </a:ln>
        </p:spPr>
      </p:sp>
      <p:sp>
        <p:nvSpPr>
          <p:cNvPr id="17" name="Text 15"/>
          <p:cNvSpPr/>
          <p:nvPr/>
        </p:nvSpPr>
        <p:spPr>
          <a:xfrm>
            <a:off x="4567767" y="3088481"/>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Artifact feeds · 5</a:t>
            </a:r>
            <a:endParaRPr lang="en-US" sz="1400" dirty="0"/>
          </a:p>
        </p:txBody>
      </p:sp>
      <p:sp>
        <p:nvSpPr>
          <p:cNvPr id="18" name="Text 16"/>
          <p:cNvSpPr/>
          <p:nvPr/>
        </p:nvSpPr>
        <p:spPr>
          <a:xfrm>
            <a:off x="4567767" y="3339902"/>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Versioned Terraform modules pulled via modules_manifest.csv</a:t>
            </a:r>
            <a:endParaRPr lang="en-US" sz="1200" dirty="0"/>
          </a:p>
        </p:txBody>
      </p:sp>
      <p:sp>
        <p:nvSpPr>
          <p:cNvPr id="19" name="Shape 17"/>
          <p:cNvSpPr/>
          <p:nvPr/>
        </p:nvSpPr>
        <p:spPr>
          <a:xfrm>
            <a:off x="7948084" y="2929731"/>
            <a:ext cx="3424767" cy="980347"/>
          </a:xfrm>
          <a:prstGeom prst="roundRect">
            <a:avLst>
              <a:gd name="adj" fmla="val 8420"/>
            </a:avLst>
          </a:prstGeom>
          <a:solidFill>
            <a:srgbClr val="FDFCF9"/>
          </a:solidFill>
          <a:ln w="12700">
            <a:solidFill>
              <a:srgbClr val="E2DED3"/>
            </a:solidFill>
            <a:prstDash val="solid"/>
          </a:ln>
        </p:spPr>
      </p:sp>
      <p:sp>
        <p:nvSpPr>
          <p:cNvPr id="20" name="Text 18"/>
          <p:cNvSpPr/>
          <p:nvPr/>
        </p:nvSpPr>
        <p:spPr>
          <a:xfrm>
            <a:off x="8132234" y="3088481"/>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Service connections · 103</a:t>
            </a:r>
            <a:endParaRPr lang="en-US" sz="1400" dirty="0"/>
          </a:p>
        </p:txBody>
      </p:sp>
      <p:sp>
        <p:nvSpPr>
          <p:cNvPr id="21" name="Text 19"/>
          <p:cNvSpPr/>
          <p:nvPr/>
        </p:nvSpPr>
        <p:spPr>
          <a:xfrm>
            <a:off x="8132234" y="3339902"/>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Pipeline access to Azure subscriptions and services</a:t>
            </a:r>
            <a:endParaRPr lang="en-US" sz="1200" dirty="0"/>
          </a:p>
        </p:txBody>
      </p:sp>
      <p:sp>
        <p:nvSpPr>
          <p:cNvPr id="22" name="Shape 20"/>
          <p:cNvSpPr/>
          <p:nvPr/>
        </p:nvSpPr>
        <p:spPr>
          <a:xfrm>
            <a:off x="819150" y="4049779"/>
            <a:ext cx="3424767" cy="980347"/>
          </a:xfrm>
          <a:prstGeom prst="roundRect">
            <a:avLst>
              <a:gd name="adj" fmla="val 8420"/>
            </a:avLst>
          </a:prstGeom>
          <a:solidFill>
            <a:srgbClr val="FDFCF9"/>
          </a:solidFill>
          <a:ln w="12700">
            <a:solidFill>
              <a:srgbClr val="E2DED3"/>
            </a:solidFill>
            <a:prstDash val="solid"/>
          </a:ln>
        </p:spPr>
      </p:sp>
      <p:sp>
        <p:nvSpPr>
          <p:cNvPr id="23" name="Text 21"/>
          <p:cNvSpPr/>
          <p:nvPr/>
        </p:nvSpPr>
        <p:spPr>
          <a:xfrm>
            <a:off x="1003300" y="4208529"/>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Environments · 106</a:t>
            </a:r>
            <a:endParaRPr lang="en-US" sz="1400" dirty="0"/>
          </a:p>
        </p:txBody>
      </p:sp>
      <p:sp>
        <p:nvSpPr>
          <p:cNvPr id="24" name="Text 22"/>
          <p:cNvSpPr/>
          <p:nvPr/>
        </p:nvSpPr>
        <p:spPr>
          <a:xfrm>
            <a:off x="1003300" y="4459949"/>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YAML environments with checks, plus 57 variable groups</a:t>
            </a:r>
            <a:endParaRPr lang="en-US" sz="1200" dirty="0"/>
          </a:p>
        </p:txBody>
      </p:sp>
      <p:sp>
        <p:nvSpPr>
          <p:cNvPr id="25" name="Shape 23"/>
          <p:cNvSpPr/>
          <p:nvPr/>
        </p:nvSpPr>
        <p:spPr>
          <a:xfrm>
            <a:off x="4383617" y="4049779"/>
            <a:ext cx="3424767" cy="980347"/>
          </a:xfrm>
          <a:prstGeom prst="roundRect">
            <a:avLst>
              <a:gd name="adj" fmla="val 8420"/>
            </a:avLst>
          </a:prstGeom>
          <a:solidFill>
            <a:srgbClr val="FDFCF9"/>
          </a:solidFill>
          <a:ln w="12700">
            <a:solidFill>
              <a:srgbClr val="E2DED3"/>
            </a:solidFill>
            <a:prstDash val="solid"/>
          </a:ln>
        </p:spPr>
      </p:sp>
      <p:sp>
        <p:nvSpPr>
          <p:cNvPr id="26" name="Text 24"/>
          <p:cNvSpPr/>
          <p:nvPr/>
        </p:nvSpPr>
        <p:spPr>
          <a:xfrm>
            <a:off x="4567767" y="4208529"/>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Access</a:t>
            </a:r>
            <a:endParaRPr lang="en-US" sz="1400" dirty="0"/>
          </a:p>
        </p:txBody>
      </p:sp>
      <p:sp>
        <p:nvSpPr>
          <p:cNvPr id="27" name="Text 25"/>
          <p:cNvSpPr/>
          <p:nvPr/>
        </p:nvSpPr>
        <p:spPr>
          <a:xfrm>
            <a:off x="4567767" y="4459949"/>
            <a:ext cx="314816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ADO project groups; repo, pipeline and connection permissions</a:t>
            </a:r>
            <a:endParaRPr lang="en-US" sz="1200" dirty="0"/>
          </a:p>
        </p:txBody>
      </p:sp>
      <p:sp>
        <p:nvSpPr>
          <p:cNvPr id="28" name="Shape 26"/>
          <p:cNvSpPr/>
          <p:nvPr/>
        </p:nvSpPr>
        <p:spPr>
          <a:xfrm>
            <a:off x="7948084" y="4049779"/>
            <a:ext cx="3424767" cy="980347"/>
          </a:xfrm>
          <a:prstGeom prst="roundRect">
            <a:avLst>
              <a:gd name="adj" fmla="val 8420"/>
            </a:avLst>
          </a:prstGeom>
          <a:solidFill>
            <a:srgbClr val="FDFCF9"/>
          </a:solidFill>
          <a:ln w="12700">
            <a:solidFill>
              <a:srgbClr val="E2DED3"/>
            </a:solidFill>
            <a:prstDash val="solid"/>
          </a:ln>
        </p:spPr>
      </p:sp>
      <p:sp>
        <p:nvSpPr>
          <p:cNvPr id="29" name="Text 27"/>
          <p:cNvSpPr/>
          <p:nvPr/>
        </p:nvSpPr>
        <p:spPr>
          <a:xfrm>
            <a:off x="8132234" y="4208529"/>
            <a:ext cx="31481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Pull requests · 67</a:t>
            </a:r>
            <a:endParaRPr lang="en-US" sz="1400" dirty="0"/>
          </a:p>
        </p:txBody>
      </p:sp>
      <p:sp>
        <p:nvSpPr>
          <p:cNvPr id="30" name="Text 28"/>
          <p:cNvSpPr/>
          <p:nvPr/>
        </p:nvSpPr>
        <p:spPr>
          <a:xfrm>
            <a:off x="8132234" y="4459949"/>
            <a:ext cx="314816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10 active, governed by ADO branch policies</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One ADO project becomes many GitHub repos</a:t>
            </a:r>
            <a:endParaRPr lang="en-US" sz="3200" dirty="0"/>
          </a:p>
        </p:txBody>
      </p:sp>
      <p:sp>
        <p:nvSpPr>
          <p:cNvPr id="4" name="Shape 2"/>
          <p:cNvSpPr/>
          <p:nvPr/>
        </p:nvSpPr>
        <p:spPr>
          <a:xfrm>
            <a:off x="819150" y="1809685"/>
            <a:ext cx="4902200" cy="3095823"/>
          </a:xfrm>
          <a:prstGeom prst="roundRect">
            <a:avLst>
              <a:gd name="adj" fmla="val 3077"/>
            </a:avLst>
          </a:prstGeom>
          <a:solidFill>
            <a:srgbClr val="FDFCF9"/>
          </a:solidFill>
          <a:ln w="12700">
            <a:solidFill>
              <a:srgbClr val="E2DED3"/>
            </a:solidFill>
            <a:prstDash val="solid"/>
          </a:ln>
        </p:spPr>
      </p:sp>
      <p:sp>
        <p:nvSpPr>
          <p:cNvPr id="5" name="Text 3"/>
          <p:cNvSpPr/>
          <p:nvPr/>
        </p:nvSpPr>
        <p:spPr>
          <a:xfrm>
            <a:off x="1028700" y="199383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81B"/>
                </a:solidFill>
                <a:latin typeface="IBM Plex Sans" pitchFamily="34" charset="0"/>
                <a:ea typeface="IBM Plex Sans" pitchFamily="34" charset="-122"/>
                <a:cs typeface="IBM Plex Sans" pitchFamily="34" charset="-120"/>
              </a:rPr>
              <a:t>AS-IS · AZURE DEVOPS</a:t>
            </a:r>
            <a:endParaRPr lang="en-US" sz="1200" dirty="0"/>
          </a:p>
        </p:txBody>
      </p:sp>
      <p:sp>
        <p:nvSpPr>
          <p:cNvPr id="6" name="Text 4"/>
          <p:cNvSpPr/>
          <p:nvPr/>
        </p:nvSpPr>
        <p:spPr>
          <a:xfrm>
            <a:off x="1028700" y="224525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JetBrains Mono" pitchFamily="49" charset="0"/>
                <a:ea typeface="JetBrains Mono" pitchFamily="49" charset="-122"/>
                <a:cs typeface="JetBrains Mono" pitchFamily="49" charset="-120"/>
              </a:rPr>
              <a:t>AnalyticsDataHub</a:t>
            </a:r>
            <a:endParaRPr lang="en-US" sz="1200" dirty="0"/>
          </a:p>
        </p:txBody>
      </p:sp>
      <p:sp>
        <p:nvSpPr>
          <p:cNvPr id="7" name="Text 5"/>
          <p:cNvSpPr/>
          <p:nvPr/>
        </p:nvSpPr>
        <p:spPr>
          <a:xfrm>
            <a:off x="1130300" y="2496676"/>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Project: Platform</a:t>
            </a:r>
            <a:endParaRPr lang="en-US" sz="1200" dirty="0"/>
          </a:p>
        </p:txBody>
      </p:sp>
      <p:sp>
        <p:nvSpPr>
          <p:cNvPr id="8" name="Text 6"/>
          <p:cNvSpPr/>
          <p:nvPr/>
        </p:nvSpPr>
        <p:spPr>
          <a:xfrm>
            <a:off x="1333500" y="274809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23 repositories</a:t>
            </a:r>
            <a:endParaRPr lang="en-US" sz="1200" dirty="0"/>
          </a:p>
        </p:txBody>
      </p:sp>
      <p:sp>
        <p:nvSpPr>
          <p:cNvPr id="9" name="Text 7"/>
          <p:cNvSpPr/>
          <p:nvPr/>
        </p:nvSpPr>
        <p:spPr>
          <a:xfrm>
            <a:off x="1536700" y="2999516"/>
            <a:ext cx="40943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Terraform, Custodian infra, app/data</a:t>
            </a:r>
            <a:endParaRPr lang="en-US" sz="1200" dirty="0"/>
          </a:p>
        </p:txBody>
      </p:sp>
      <p:sp>
        <p:nvSpPr>
          <p:cNvPr id="10" name="Text 8"/>
          <p:cNvSpPr/>
          <p:nvPr/>
        </p:nvSpPr>
        <p:spPr>
          <a:xfrm>
            <a:off x="1333500" y="325093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142 build pipelines</a:t>
            </a:r>
            <a:endParaRPr lang="en-US" sz="1200" dirty="0"/>
          </a:p>
        </p:txBody>
      </p:sp>
      <p:sp>
        <p:nvSpPr>
          <p:cNvPr id="11" name="Text 9"/>
          <p:cNvSpPr/>
          <p:nvPr/>
        </p:nvSpPr>
        <p:spPr>
          <a:xfrm>
            <a:off x="1333500" y="350235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302 classic releases</a:t>
            </a:r>
            <a:endParaRPr lang="en-US" sz="1200" dirty="0"/>
          </a:p>
        </p:txBody>
      </p:sp>
      <p:sp>
        <p:nvSpPr>
          <p:cNvPr id="12" name="Text 10"/>
          <p:cNvSpPr/>
          <p:nvPr/>
        </p:nvSpPr>
        <p:spPr>
          <a:xfrm>
            <a:off x="1333500" y="375377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103 service connections</a:t>
            </a:r>
            <a:endParaRPr lang="en-US" sz="1200" dirty="0"/>
          </a:p>
        </p:txBody>
      </p:sp>
      <p:sp>
        <p:nvSpPr>
          <p:cNvPr id="13" name="Text 11"/>
          <p:cNvSpPr/>
          <p:nvPr/>
        </p:nvSpPr>
        <p:spPr>
          <a:xfrm>
            <a:off x="1333500" y="400519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57 variable groups</a:t>
            </a:r>
            <a:endParaRPr lang="en-US" sz="1200" dirty="0"/>
          </a:p>
        </p:txBody>
      </p:sp>
      <p:sp>
        <p:nvSpPr>
          <p:cNvPr id="14" name="Text 12"/>
          <p:cNvSpPr/>
          <p:nvPr/>
        </p:nvSpPr>
        <p:spPr>
          <a:xfrm>
            <a:off x="1333500" y="425661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5 artifact feeds</a:t>
            </a:r>
            <a:endParaRPr lang="en-US" sz="1200" dirty="0"/>
          </a:p>
        </p:txBody>
      </p:sp>
      <p:sp>
        <p:nvSpPr>
          <p:cNvPr id="15" name="Text 13"/>
          <p:cNvSpPr/>
          <p:nvPr/>
        </p:nvSpPr>
        <p:spPr>
          <a:xfrm>
            <a:off x="1333500" y="450803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 10 self-hosted agent pools</a:t>
            </a:r>
            <a:endParaRPr lang="en-US" sz="1200" dirty="0"/>
          </a:p>
        </p:txBody>
      </p:sp>
      <p:pic>
        <p:nvPicPr>
          <p:cNvPr id="16" name="Image 0" descr="arrow-right">    </p:cNvPr>
          <p:cNvPicPr>
            <a:picLocks noChangeAspect="1"/>
          </p:cNvPicPr>
          <p:nvPr/>
        </p:nvPicPr>
        <p:blipFill>
          <a:blip r:embed="rId1"/>
          <a:srcRect l="0" r="0" t="0" b="0"/>
          <a:stretch/>
        </p:blipFill>
        <p:spPr>
          <a:xfrm>
            <a:off x="5880100" y="3230563"/>
            <a:ext cx="457200" cy="254000"/>
          </a:xfrm>
          <a:prstGeom prst="rect">
            <a:avLst/>
          </a:prstGeom>
        </p:spPr>
      </p:pic>
      <p:sp>
        <p:nvSpPr>
          <p:cNvPr id="17" name="Shape 14"/>
          <p:cNvSpPr/>
          <p:nvPr/>
        </p:nvSpPr>
        <p:spPr>
          <a:xfrm>
            <a:off x="6489700" y="1835085"/>
            <a:ext cx="4889500" cy="3045023"/>
          </a:xfrm>
          <a:prstGeom prst="roundRect">
            <a:avLst>
              <a:gd name="adj" fmla="val 3337"/>
            </a:avLst>
          </a:prstGeom>
          <a:solidFill>
            <a:srgbClr val="14213D"/>
          </a:solidFill>
          <a:ln/>
        </p:spPr>
      </p:sp>
      <p:sp>
        <p:nvSpPr>
          <p:cNvPr id="18" name="Text 15"/>
          <p:cNvSpPr/>
          <p:nvPr/>
        </p:nvSpPr>
        <p:spPr>
          <a:xfrm>
            <a:off x="6692900" y="201288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TO-BE · GITHUB ENTERPRISE</a:t>
            </a:r>
            <a:endParaRPr lang="en-US" sz="1200" dirty="0"/>
          </a:p>
        </p:txBody>
      </p:sp>
      <p:sp>
        <p:nvSpPr>
          <p:cNvPr id="19" name="Text 16"/>
          <p:cNvSpPr/>
          <p:nvPr/>
        </p:nvSpPr>
        <p:spPr>
          <a:xfrm>
            <a:off x="6692900" y="2264305"/>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JetBrains Mono" pitchFamily="49" charset="0"/>
                <a:ea typeface="JetBrains Mono" pitchFamily="49" charset="-122"/>
                <a:cs typeface="JetBrains Mono" pitchFamily="49" charset="-120"/>
              </a:rPr>
              <a:t>cencora.ghe.com</a:t>
            </a:r>
            <a:endParaRPr lang="en-US" sz="1200" dirty="0"/>
          </a:p>
        </p:txBody>
      </p:sp>
      <p:sp>
        <p:nvSpPr>
          <p:cNvPr id="20" name="Text 17"/>
          <p:cNvSpPr/>
          <p:nvPr/>
        </p:nvSpPr>
        <p:spPr>
          <a:xfrm>
            <a:off x="6794500" y="2515726"/>
            <a:ext cx="4512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Org: ADHPlatform</a:t>
            </a:r>
            <a:endParaRPr lang="en-US" sz="1200" dirty="0"/>
          </a:p>
        </p:txBody>
      </p:sp>
      <p:sp>
        <p:nvSpPr>
          <p:cNvPr id="21" name="Text 18"/>
          <p:cNvSpPr/>
          <p:nvPr/>
        </p:nvSpPr>
        <p:spPr>
          <a:xfrm>
            <a:off x="6997700" y="276714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Platform </a:t>
            </a:r>
            <a:r>
              <a:rPr lang="en-US" sz="1200" dirty="0">
                <a:solidFill>
                  <a:srgbClr val="F2A65A"/>
                </a:solidFill>
                <a:latin typeface="JetBrains Mono" pitchFamily="49" charset="0"/>
                <a:ea typeface="JetBrains Mono" pitchFamily="49" charset="-122"/>
                <a:cs typeface="JetBrains Mono" pitchFamily="49" charset="-120"/>
              </a:rPr>
              <a:t>(exists)</a:t>
            </a:r>
            <a:endParaRPr lang="en-US" sz="1200" dirty="0"/>
          </a:p>
        </p:txBody>
      </p:sp>
      <p:sp>
        <p:nvSpPr>
          <p:cNvPr id="22" name="Text 19"/>
          <p:cNvSpPr/>
          <p:nvPr/>
        </p:nvSpPr>
        <p:spPr>
          <a:xfrm>
            <a:off x="7200900" y="3018566"/>
            <a:ext cx="40943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JetBrains Mono" pitchFamily="49" charset="0"/>
                <a:ea typeface="JetBrains Mono" pitchFamily="49" charset="-122"/>
                <a:cs typeface="JetBrains Mono" pitchFamily="49" charset="-120"/>
              </a:rPr>
              <a:t>shared workflows, if approved</a:t>
            </a:r>
            <a:endParaRPr lang="en-US" sz="1200" dirty="0"/>
          </a:p>
        </p:txBody>
      </p:sp>
      <p:sp>
        <p:nvSpPr>
          <p:cNvPr id="23" name="Text 20"/>
          <p:cNvSpPr/>
          <p:nvPr/>
        </p:nvSpPr>
        <p:spPr>
          <a:xfrm>
            <a:off x="6997700" y="3269986"/>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Modernization_Terraform</a:t>
            </a:r>
            <a:endParaRPr lang="en-US" sz="1200" dirty="0"/>
          </a:p>
        </p:txBody>
      </p:sp>
      <p:sp>
        <p:nvSpPr>
          <p:cNvPr id="24" name="Text 21"/>
          <p:cNvSpPr/>
          <p:nvPr/>
        </p:nvSpPr>
        <p:spPr>
          <a:xfrm>
            <a:off x="6997700" y="3521407"/>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Custodian_Infrastructure_ Deployment_Terraform</a:t>
            </a:r>
            <a:endParaRPr lang="en-US" sz="1200" dirty="0"/>
          </a:p>
        </p:txBody>
      </p:sp>
      <p:sp>
        <p:nvSpPr>
          <p:cNvPr id="25" name="Text 22"/>
          <p:cNvSpPr/>
          <p:nvPr/>
        </p:nvSpPr>
        <p:spPr>
          <a:xfrm>
            <a:off x="6997700" y="3986147"/>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Custodian_Infrastructure_ Terraform_XL</a:t>
            </a:r>
            <a:endParaRPr lang="en-US" sz="1200" dirty="0"/>
          </a:p>
        </p:txBody>
      </p:sp>
      <p:sp>
        <p:nvSpPr>
          <p:cNvPr id="26" name="Text 23"/>
          <p:cNvSpPr/>
          <p:nvPr/>
        </p:nvSpPr>
        <p:spPr>
          <a:xfrm>
            <a:off x="6997700" y="423756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Custodian_Infra_KeyVault</a:t>
            </a:r>
            <a:endParaRPr lang="en-US" sz="1200" dirty="0"/>
          </a:p>
        </p:txBody>
      </p:sp>
      <p:sp>
        <p:nvSpPr>
          <p:cNvPr id="27" name="Text 24"/>
          <p:cNvSpPr/>
          <p:nvPr/>
        </p:nvSpPr>
        <p:spPr>
          <a:xfrm>
            <a:off x="6997700" y="4488988"/>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 Other retained repositories</a:t>
            </a:r>
            <a:endParaRPr lang="en-US" sz="1200" dirty="0"/>
          </a:p>
        </p:txBody>
      </p:sp>
      <p:sp>
        <p:nvSpPr>
          <p:cNvPr id="28" name="Text 25"/>
          <p:cNvSpPr/>
          <p:nvPr/>
        </p:nvSpPr>
        <p:spPr>
          <a:xfrm>
            <a:off x="812800" y="5140458"/>
            <a:ext cx="1088339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Everything lives in one ADO project today. After migration, </a:t>
            </a:r>
            <a:r>
              <a:rPr lang="en-US" sz="1300" b="1" dirty="0">
                <a:solidFill>
                  <a:srgbClr val="14213D"/>
                </a:solidFill>
                <a:latin typeface="IBM Plex Sans" pitchFamily="34" charset="0"/>
                <a:ea typeface="IBM Plex Sans" pitchFamily="34" charset="-122"/>
                <a:cs typeface="IBM Plex Sans" pitchFamily="34" charset="-120"/>
              </a:rPr>
              <a:t>each retained ADO repository becomes its own GitHub repository</a:t>
            </a:r>
            <a:r>
              <a:rPr lang="en-US" sz="1300" dirty="0">
                <a:solidFill>
                  <a:srgbClr val="4A5568"/>
                </a:solidFill>
                <a:latin typeface="IBM Plex Sans" pitchFamily="34" charset="0"/>
                <a:ea typeface="IBM Plex Sans" pitchFamily="34" charset="-122"/>
                <a:cs typeface="IBM Plex Sans" pitchFamily="34" charset="-120"/>
              </a:rPr>
              <a:t>, with its workflows, secrets and environments beside the code.</a:t>
            </a:r>
            <a:endParaRPr lang="en-US" sz="1300" dirty="0"/>
          </a:p>
        </p:txBody>
      </p:sp>
      <p:sp>
        <p:nvSpPr>
          <p:cNvPr id="29"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How ADO maps to GitHub</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2993827"/>
        </p:xfrm>
        <a:graphic>
          <a:graphicData uri="http://schemas.openxmlformats.org/drawingml/2006/table">
            <a:tbl>
              <a:tblPr/>
              <a:tblGrid>
                <a:gridCol w="3377184"/>
                <a:gridCol w="7176516"/>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in 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on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 repository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repository with history, branches and tags validated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PRs and branch policies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PRs, rulesets and review requirements; migration method to be validated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YAML/classic 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Actions workflow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Classic release and stages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Workflow jobs, reusable workflows and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Service connection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Approved identity configuration; prefer OIDC for supported Azure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Agent pool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runner group, including Container Apps-hosted 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Variable group and secrets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Scoped GitHub variables/secrets or an approved external secret store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Artifact feed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Compatible package registry or temporary retention, based on package format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5" name="Text 2"/>
          <p:cNvSpPr/>
          <p:nvPr/>
        </p:nvSpPr>
        <p:spPr>
          <a:xfrm>
            <a:off x="812800" y="5038461"/>
            <a:ext cx="113792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81B"/>
                </a:solidFill>
                <a:latin typeface="IBM Plex Sans" pitchFamily="34" charset="0"/>
                <a:ea typeface="IBM Plex Sans" pitchFamily="34" charset="-122"/>
                <a:cs typeface="IBM Plex Sans" pitchFamily="34" charset="-120"/>
              </a:rPr>
              <a:t>Note:</a:t>
            </a:r>
            <a:r>
              <a:rPr lang="en-US" sz="1300" dirty="0">
                <a:solidFill>
                  <a:srgbClr val="4A5568"/>
                </a:solidFill>
                <a:latin typeface="IBM Plex Sans" pitchFamily="34" charset="0"/>
                <a:ea typeface="IBM Plex Sans" pitchFamily="34" charset="-122"/>
                <a:cs typeface="IBM Plex Sans" pitchFamily="34" charset="-120"/>
              </a:rPr>
              <a:t> GitHub Environments do not automatically reproduce every ADO approval or check. Each required control must be mapped and tested.</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CUSTODIAN ARCHITECTURE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the migration must preserve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3207147"/>
        </p:xfrm>
        <a:graphic>
          <a:graphicData uri="http://schemas.openxmlformats.org/drawingml/2006/table">
            <a:tbl>
              <a:tblPr/>
              <a:tblGrid>
                <a:gridCol w="5065776"/>
                <a:gridCol w="5487924"/>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architecture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GitHub 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Foundation: resource groups, VNets, subnets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Preserve deployment order and dependencies in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Core services: ADLS, Databricks, Data Factory, Service Bus, PostgreSQL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Keep parallel deployment where dependencies allow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Connectivity: private endpoints, then DNS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Runners must reach private endpoints and DNS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Security: RBAC and ACLs after resources exist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Reproduce permissions and controls; validate before cutover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545968">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Module delivery: PowerShell reads modules_manifest.csv, pulls versions from Azure Artifacts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Keep exact version selection and feed access; decide registry move separately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Production modules: published from module_publish_prd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Keep approved production versioning and publishing controls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Terraform state: separate per-environment files in Azure 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Retain backend; validate access, separation and locking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Post-deployment: ADLS ACLs, Databricks Internal, Unity Catalog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Migrate and validate each follow-up workflow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Source: Platform wiki, Architecture page · ADO to GitHub migration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4090"/>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A8481B"/>
                </a:solidFill>
                <a:latin typeface="JetBrains Mono" pitchFamily="49" charset="0"/>
                <a:ea typeface="JetBrains Mono" pitchFamily="49" charset="-122"/>
                <a:cs typeface="JetBrains Mono" pitchFamily="49" charset="-120"/>
              </a:rPr>
              <a:t>AS-IS → TO-BE</a:t>
            </a:r>
            <a:endParaRPr lang="en-US" sz="1196" dirty="0"/>
          </a:p>
        </p:txBody>
      </p:sp>
      <p:sp>
        <p:nvSpPr>
          <p:cNvPr id="3" name="Text 1"/>
          <p:cNvSpPr/>
          <p:nvPr>
            <p:ph type="title"/>
          </p:nvPr>
        </p:nvSpPr>
        <p:spPr>
          <a:xfrm>
            <a:off x="812800" y="1123091"/>
            <a:ext cx="10883392" cy="46255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4213D"/>
                </a:solidFill>
                <a:latin typeface="IBM Plex Sans" pitchFamily="34" charset="0"/>
                <a:ea typeface="IBM Plex Sans" pitchFamily="34" charset="-122"/>
                <a:cs typeface="IBM Plex Sans" pitchFamily="34" charset="-120"/>
              </a:rPr>
              <a:t>Infra deployment: same sequence, new home</a:t>
            </a:r>
            <a:endParaRPr lang="en-US" sz="3150" dirty="0"/>
          </a:p>
        </p:txBody>
      </p:sp>
      <p:sp>
        <p:nvSpPr>
          <p:cNvPr id="4" name="Shape 2"/>
          <p:cNvSpPr/>
          <p:nvPr/>
        </p:nvSpPr>
        <p:spPr>
          <a:xfrm>
            <a:off x="819150" y="1795199"/>
            <a:ext cx="5181600" cy="3331104"/>
          </a:xfrm>
          <a:prstGeom prst="roundRect">
            <a:avLst>
              <a:gd name="adj" fmla="val 2859"/>
            </a:avLst>
          </a:prstGeom>
          <a:solidFill>
            <a:srgbClr val="FDFCF9"/>
          </a:solidFill>
          <a:ln w="12700">
            <a:solidFill>
              <a:srgbClr val="E2DED3"/>
            </a:solidFill>
            <a:prstDash val="solid"/>
          </a:ln>
        </p:spPr>
      </p:sp>
      <p:sp>
        <p:nvSpPr>
          <p:cNvPr id="5" name="Text 3"/>
          <p:cNvSpPr/>
          <p:nvPr/>
        </p:nvSpPr>
        <p:spPr>
          <a:xfrm>
            <a:off x="1028700" y="2004749"/>
            <a:ext cx="4905375" cy="233759"/>
          </a:xfrm>
          <a:prstGeom prst="rect">
            <a:avLst/>
          </a:prstGeom>
          <a:noFill/>
          <a:ln/>
        </p:spPr>
        <p:txBody>
          <a:bodyPr wrap="square" lIns="0" tIns="0" rIns="0" bIns="0" rtlCol="0" anchor="t">
            <a:normAutofit/>
          </a:bodyPr>
          <a:lstStyle/>
          <a:p>
            <a:pPr algn="l" indent="0" marL="0">
              <a:lnSpc>
                <a:spcPts val="1670"/>
              </a:lnSpc>
              <a:buNone/>
            </a:pPr>
            <a:r>
              <a:rPr lang="en-US" sz="1391" b="1" dirty="0">
                <a:solidFill>
                  <a:srgbClr val="A8481B"/>
                </a:solidFill>
                <a:latin typeface="IBM Plex Sans" pitchFamily="34" charset="0"/>
                <a:ea typeface="IBM Plex Sans" pitchFamily="34" charset="-122"/>
                <a:cs typeface="IBM Plex Sans" pitchFamily="34" charset="-120"/>
              </a:rPr>
              <a:t>As-is · ADO pipeline</a:t>
            </a:r>
            <a:endParaRPr lang="en-US" sz="1391" dirty="0"/>
          </a:p>
        </p:txBody>
      </p:sp>
      <p:sp>
        <p:nvSpPr>
          <p:cNvPr id="6" name="Text 4"/>
          <p:cNvSpPr/>
          <p:nvPr/>
        </p:nvSpPr>
        <p:spPr>
          <a:xfrm>
            <a:off x="1028898" y="2314708"/>
            <a:ext cx="4897557" cy="2109126"/>
          </a:xfrm>
          <a:prstGeom prst="rect">
            <a:avLst/>
          </a:prstGeom>
          <a:noFill/>
          <a:ln/>
        </p:spPr>
        <p:txBody>
          <a:bodyPr wrap="square" lIns="0" tIns="0" rIns="0" bIns="0" rtlCol="0" anchor="t">
            <a:normAutofit/>
          </a:bodyPr>
          <a:lstStyle/>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Prepare custodian config in CoreInfra/</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[Step 1: confirm from the assessment]</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[Step 1: confirm from the assessment]</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[Step 1: confirm from the assessment]</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[Step 1: confirm from the assessment]</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Configure modules_manifest.csv and environment .tfvars</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Run Pipeline.InfraDeployment for NonProd or Prod</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Download Terraform modules, deploy in dependency order</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Run follow-up pipelines: ADLS ACL, Databricks config</a:t>
            </a:r>
            <a:endParaRPr lang="en-US" sz="1170" dirty="0"/>
          </a:p>
          <a:p>
            <a:pPr algn="l" marL="253802" indent="-253802">
              <a:lnSpc>
                <a:spcPts val="1638"/>
              </a:lnSpc>
              <a:buSzPct val="100000"/>
              <a:buFontTx/>
              <a:buAutoNum type="arabicPeriod" startAt="1"/>
            </a:pPr>
            <a:r>
              <a:rPr lang="en-US" sz="1170" dirty="0">
                <a:solidFill>
                  <a:srgbClr val="14213D"/>
                </a:solidFill>
                <a:latin typeface="IBM Plex Sans" pitchFamily="34" charset="0"/>
                <a:ea typeface="IBM Plex Sans" pitchFamily="34" charset="-122"/>
                <a:cs typeface="IBM Plex Sans" pitchFamily="34" charset="-120"/>
              </a:rPr>
              <a:t>Validate resources, connectivity and access</a:t>
            </a:r>
            <a:endParaRPr lang="en-US" sz="1170" dirty="0"/>
          </a:p>
        </p:txBody>
      </p:sp>
      <p:sp>
        <p:nvSpPr>
          <p:cNvPr id="7" name="Text 5"/>
          <p:cNvSpPr/>
          <p:nvPr/>
        </p:nvSpPr>
        <p:spPr>
          <a:xfrm>
            <a:off x="1028700" y="4500035"/>
            <a:ext cx="4905375"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568"/>
                </a:solidFill>
                <a:latin typeface="IBM Plex Sans" pitchFamily="34" charset="0"/>
                <a:ea typeface="IBM Plex Sans" pitchFamily="34" charset="-122"/>
                <a:cs typeface="IBM Plex Sans" pitchFamily="34" charset="-120"/>
              </a:rPr>
              <a:t>Runs on ADO self-hosted agent pools, using service connections and variable groups.</a:t>
            </a:r>
            <a:endParaRPr lang="en-US" sz="1185" dirty="0"/>
          </a:p>
        </p:txBody>
      </p:sp>
      <p:sp>
        <p:nvSpPr>
          <p:cNvPr id="8" name="Shape 6"/>
          <p:cNvSpPr/>
          <p:nvPr/>
        </p:nvSpPr>
        <p:spPr>
          <a:xfrm>
            <a:off x="6210300" y="1788849"/>
            <a:ext cx="5168900" cy="3343804"/>
          </a:xfrm>
          <a:prstGeom prst="roundRect">
            <a:avLst>
              <a:gd name="adj" fmla="val 3038"/>
            </a:avLst>
          </a:prstGeom>
          <a:solidFill>
            <a:srgbClr val="14213D"/>
          </a:solidFill>
          <a:ln/>
        </p:spPr>
      </p:sp>
      <p:sp>
        <p:nvSpPr>
          <p:cNvPr id="9" name="Text 7"/>
          <p:cNvSpPr/>
          <p:nvPr/>
        </p:nvSpPr>
        <p:spPr>
          <a:xfrm>
            <a:off x="6413500" y="1992049"/>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To-be · GitHub Actions</a:t>
            </a:r>
            <a:endParaRPr lang="en-US" sz="1400" dirty="0"/>
          </a:p>
        </p:txBody>
      </p:sp>
      <p:sp>
        <p:nvSpPr>
          <p:cNvPr id="10" name="Text 8"/>
          <p:cNvSpPr/>
          <p:nvPr/>
        </p:nvSpPr>
        <p:spPr>
          <a:xfrm>
            <a:off x="6498564" y="2306969"/>
            <a:ext cx="4812691" cy="1305322"/>
          </a:xfrm>
          <a:prstGeom prst="rect">
            <a:avLst/>
          </a:prstGeom>
          <a:noFill/>
          <a:ln/>
        </p:spPr>
        <p:txBody>
          <a:bodyPr wrap="square" lIns="0" tIns="0" rIns="0" bIns="0" rtlCol="0" anchor="t">
            <a:normAutofit/>
          </a:bodyPr>
          <a:lstStyle/>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Same CoreInfra config, read by the workflow</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Same manifest and .tfvars, kept in the repo</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Infra workflow targets the NonProd or Prod environment</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Same modules and dependency order, on Container Apps runners</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Follow-up steps as chained jobs or reusable workflows</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Validate, with environment approvals gating Prod</a:t>
            </a:r>
            <a:endParaRPr lang="en-US" sz="1200" dirty="0"/>
          </a:p>
        </p:txBody>
      </p:sp>
      <p:sp>
        <p:nvSpPr>
          <p:cNvPr id="11" name="Text 9"/>
          <p:cNvSpPr/>
          <p:nvPr/>
        </p:nvSpPr>
        <p:spPr>
          <a:xfrm>
            <a:off x="6413500" y="3688491"/>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Runs on the approved runner group, using OIDC identity and scoped secrets.</a:t>
            </a:r>
            <a:endParaRPr lang="en-US" sz="1200" dirty="0"/>
          </a:p>
        </p:txBody>
      </p:sp>
      <p:sp>
        <p:nvSpPr>
          <p:cNvPr id="12" name="Shape 10"/>
          <p:cNvSpPr/>
          <p:nvPr/>
        </p:nvSpPr>
        <p:spPr>
          <a:xfrm>
            <a:off x="812800" y="5361254"/>
            <a:ext cx="10566400" cy="480748"/>
          </a:xfrm>
          <a:prstGeom prst="roundRect">
            <a:avLst>
              <a:gd name="adj" fmla="val 15850"/>
            </a:avLst>
          </a:prstGeom>
          <a:solidFill>
            <a:srgbClr val="F9E3D3"/>
          </a:solidFill>
          <a:ln/>
        </p:spPr>
      </p:sp>
      <p:sp>
        <p:nvSpPr>
          <p:cNvPr id="13" name="Text 11"/>
          <p:cNvSpPr/>
          <p:nvPr/>
        </p:nvSpPr>
        <p:spPr>
          <a:xfrm>
            <a:off x="990600" y="5488254"/>
            <a:ext cx="10517124" cy="25214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Requirement:</a:t>
            </a:r>
            <a:r>
              <a:rPr lang="en-US" sz="1300" dirty="0">
                <a:solidFill>
                  <a:srgbClr val="14213D"/>
                </a:solidFill>
                <a:latin typeface="IBM Plex Sans" pitchFamily="34" charset="0"/>
                <a:ea typeface="IBM Plex Sans" pitchFamily="34" charset="-122"/>
                <a:cs typeface="IBM Plex Sans" pitchFamily="34" charset="-120"/>
              </a:rPr>
              <a:t> preserve the sequence, configuration, state access and required controls before optimizing.</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TO-BE · TARGET INFRASTRUCTURE DEPLOYMENT</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How a change reaches Azure on GitHub</a:t>
            </a:r>
            <a:endParaRPr lang="en-US" sz="3200" dirty="0"/>
          </a:p>
        </p:txBody>
      </p:sp>
      <p:sp>
        <p:nvSpPr>
          <p:cNvPr id="4" name="Text 2"/>
          <p:cNvSpPr/>
          <p:nvPr/>
        </p:nvSpPr>
        <p:spPr>
          <a:xfrm>
            <a:off x="812800" y="1777938"/>
            <a:ext cx="1088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Workflow path</a:t>
            </a:r>
            <a:endParaRPr lang="en-US" sz="1400" dirty="0"/>
          </a:p>
        </p:txBody>
      </p:sp>
      <p:sp>
        <p:nvSpPr>
          <p:cNvPr id="5" name="Shape 3"/>
          <p:cNvSpPr/>
          <p:nvPr/>
        </p:nvSpPr>
        <p:spPr>
          <a:xfrm>
            <a:off x="819150" y="2200808"/>
            <a:ext cx="1107678" cy="1026120"/>
          </a:xfrm>
          <a:prstGeom prst="roundRect">
            <a:avLst>
              <a:gd name="adj" fmla="val 6807"/>
            </a:avLst>
          </a:prstGeom>
          <a:solidFill>
            <a:srgbClr val="FDFCF9"/>
          </a:solidFill>
          <a:ln w="12700">
            <a:solidFill>
              <a:srgbClr val="E2DED3"/>
            </a:solidFill>
            <a:prstDash val="solid"/>
          </a:ln>
        </p:spPr>
      </p:sp>
      <p:sp>
        <p:nvSpPr>
          <p:cNvPr id="6" name="Text 4"/>
          <p:cNvSpPr/>
          <p:nvPr/>
        </p:nvSpPr>
        <p:spPr>
          <a:xfrm>
            <a:off x="927100" y="2308758"/>
            <a:ext cx="9425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927100" y="2547479"/>
            <a:ext cx="942578"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Module change</a:t>
            </a:r>
            <a:endParaRPr lang="en-US" sz="1200" dirty="0"/>
          </a:p>
        </p:txBody>
      </p:sp>
      <p:sp>
        <p:nvSpPr>
          <p:cNvPr id="8" name="Shape 6"/>
          <p:cNvSpPr/>
          <p:nvPr/>
        </p:nvSpPr>
        <p:spPr>
          <a:xfrm>
            <a:off x="2003028" y="2200808"/>
            <a:ext cx="1107744" cy="1026120"/>
          </a:xfrm>
          <a:prstGeom prst="roundRect">
            <a:avLst>
              <a:gd name="adj" fmla="val 6807"/>
            </a:avLst>
          </a:prstGeom>
          <a:solidFill>
            <a:srgbClr val="FDFCF9"/>
          </a:solidFill>
          <a:ln w="12700">
            <a:solidFill>
              <a:srgbClr val="E2DED3"/>
            </a:solidFill>
            <a:prstDash val="solid"/>
          </a:ln>
        </p:spPr>
      </p:sp>
      <p:sp>
        <p:nvSpPr>
          <p:cNvPr id="9" name="Text 7"/>
          <p:cNvSpPr/>
          <p:nvPr/>
        </p:nvSpPr>
        <p:spPr>
          <a:xfrm>
            <a:off x="2110978"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2110978" y="25474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Validate and test</a:t>
            </a:r>
            <a:endParaRPr lang="en-US" sz="1200" dirty="0"/>
          </a:p>
        </p:txBody>
      </p:sp>
      <p:sp>
        <p:nvSpPr>
          <p:cNvPr id="11" name="Shape 9"/>
          <p:cNvSpPr/>
          <p:nvPr/>
        </p:nvSpPr>
        <p:spPr>
          <a:xfrm>
            <a:off x="3186973" y="2200808"/>
            <a:ext cx="1107678" cy="1026120"/>
          </a:xfrm>
          <a:prstGeom prst="roundRect">
            <a:avLst>
              <a:gd name="adj" fmla="val 6807"/>
            </a:avLst>
          </a:prstGeom>
          <a:solidFill>
            <a:srgbClr val="FDFCF9"/>
          </a:solidFill>
          <a:ln w="12700">
            <a:solidFill>
              <a:srgbClr val="E2DED3"/>
            </a:solidFill>
            <a:prstDash val="solid"/>
          </a:ln>
        </p:spPr>
      </p:sp>
      <p:sp>
        <p:nvSpPr>
          <p:cNvPr id="12" name="Text 10"/>
          <p:cNvSpPr/>
          <p:nvPr/>
        </p:nvSpPr>
        <p:spPr>
          <a:xfrm>
            <a:off x="3294923" y="2308758"/>
            <a:ext cx="9425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3</a:t>
            </a:r>
            <a:endParaRPr lang="en-US" sz="1200" dirty="0"/>
          </a:p>
        </p:txBody>
      </p:sp>
      <p:sp>
        <p:nvSpPr>
          <p:cNvPr id="13" name="Text 11"/>
          <p:cNvSpPr/>
          <p:nvPr/>
        </p:nvSpPr>
        <p:spPr>
          <a:xfrm>
            <a:off x="3294923" y="2547479"/>
            <a:ext cx="942578"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Publish approved version</a:t>
            </a:r>
            <a:endParaRPr lang="en-US" sz="1200" dirty="0"/>
          </a:p>
        </p:txBody>
      </p:sp>
      <p:sp>
        <p:nvSpPr>
          <p:cNvPr id="14" name="Shape 12"/>
          <p:cNvSpPr/>
          <p:nvPr/>
        </p:nvSpPr>
        <p:spPr>
          <a:xfrm>
            <a:off x="4370851" y="2200808"/>
            <a:ext cx="1107744" cy="1026120"/>
          </a:xfrm>
          <a:prstGeom prst="roundRect">
            <a:avLst>
              <a:gd name="adj" fmla="val 6807"/>
            </a:avLst>
          </a:prstGeom>
          <a:solidFill>
            <a:srgbClr val="FDFCF9"/>
          </a:solidFill>
          <a:ln w="12700">
            <a:solidFill>
              <a:srgbClr val="E2DED3"/>
            </a:solidFill>
            <a:prstDash val="solid"/>
          </a:ln>
        </p:spPr>
      </p:sp>
      <p:sp>
        <p:nvSpPr>
          <p:cNvPr id="15" name="Text 13"/>
          <p:cNvSpPr/>
          <p:nvPr/>
        </p:nvSpPr>
        <p:spPr>
          <a:xfrm>
            <a:off x="4478801"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4</a:t>
            </a:r>
            <a:endParaRPr lang="en-US" sz="1200" dirty="0"/>
          </a:p>
        </p:txBody>
      </p:sp>
      <p:sp>
        <p:nvSpPr>
          <p:cNvPr id="16" name="Text 14"/>
          <p:cNvSpPr/>
          <p:nvPr/>
        </p:nvSpPr>
        <p:spPr>
          <a:xfrm>
            <a:off x="4478801" y="2547479"/>
            <a:ext cx="942644"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Update manifest and tfvars</a:t>
            </a:r>
            <a:endParaRPr lang="en-US" sz="1200" dirty="0"/>
          </a:p>
        </p:txBody>
      </p:sp>
      <p:sp>
        <p:nvSpPr>
          <p:cNvPr id="17" name="Shape 15"/>
          <p:cNvSpPr/>
          <p:nvPr/>
        </p:nvSpPr>
        <p:spPr>
          <a:xfrm>
            <a:off x="5554795" y="2200808"/>
            <a:ext cx="1107678" cy="1026120"/>
          </a:xfrm>
          <a:prstGeom prst="roundRect">
            <a:avLst>
              <a:gd name="adj" fmla="val 6807"/>
            </a:avLst>
          </a:prstGeom>
          <a:solidFill>
            <a:srgbClr val="FDFCF9"/>
          </a:solidFill>
          <a:ln w="12700">
            <a:solidFill>
              <a:srgbClr val="E2DED3"/>
            </a:solidFill>
            <a:prstDash val="solid"/>
          </a:ln>
        </p:spPr>
      </p:sp>
      <p:sp>
        <p:nvSpPr>
          <p:cNvPr id="18" name="Text 16"/>
          <p:cNvSpPr/>
          <p:nvPr/>
        </p:nvSpPr>
        <p:spPr>
          <a:xfrm>
            <a:off x="5662745" y="2308758"/>
            <a:ext cx="9425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5</a:t>
            </a:r>
            <a:endParaRPr lang="en-US" sz="1200" dirty="0"/>
          </a:p>
        </p:txBody>
      </p:sp>
      <p:sp>
        <p:nvSpPr>
          <p:cNvPr id="19" name="Text 17"/>
          <p:cNvSpPr/>
          <p:nvPr/>
        </p:nvSpPr>
        <p:spPr>
          <a:xfrm>
            <a:off x="5662745" y="2547479"/>
            <a:ext cx="942578"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Terraform plan</a:t>
            </a:r>
            <a:endParaRPr lang="en-US" sz="1200" dirty="0"/>
          </a:p>
        </p:txBody>
      </p:sp>
      <p:sp>
        <p:nvSpPr>
          <p:cNvPr id="20" name="Shape 18"/>
          <p:cNvSpPr/>
          <p:nvPr/>
        </p:nvSpPr>
        <p:spPr>
          <a:xfrm>
            <a:off x="6732323" y="2194458"/>
            <a:ext cx="1095044" cy="1038820"/>
          </a:xfrm>
          <a:prstGeom prst="roundRect">
            <a:avLst>
              <a:gd name="adj" fmla="val 7335"/>
            </a:avLst>
          </a:prstGeom>
          <a:solidFill>
            <a:srgbClr val="F9E3D3"/>
          </a:solidFill>
          <a:ln/>
        </p:spPr>
      </p:sp>
      <p:sp>
        <p:nvSpPr>
          <p:cNvPr id="21" name="Text 19"/>
          <p:cNvSpPr/>
          <p:nvPr/>
        </p:nvSpPr>
        <p:spPr>
          <a:xfrm>
            <a:off x="6833923" y="22960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6</a:t>
            </a:r>
            <a:endParaRPr lang="en-US" sz="1200" dirty="0"/>
          </a:p>
        </p:txBody>
      </p:sp>
      <p:sp>
        <p:nvSpPr>
          <p:cNvPr id="22" name="Text 20"/>
          <p:cNvSpPr/>
          <p:nvPr/>
        </p:nvSpPr>
        <p:spPr>
          <a:xfrm>
            <a:off x="6833923" y="25347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Review and approval</a:t>
            </a:r>
            <a:endParaRPr lang="en-US" sz="1200" dirty="0"/>
          </a:p>
        </p:txBody>
      </p:sp>
      <p:sp>
        <p:nvSpPr>
          <p:cNvPr id="23" name="Shape 21"/>
          <p:cNvSpPr/>
          <p:nvPr/>
        </p:nvSpPr>
        <p:spPr>
          <a:xfrm>
            <a:off x="7897217" y="2200808"/>
            <a:ext cx="1107744" cy="1026120"/>
          </a:xfrm>
          <a:prstGeom prst="roundRect">
            <a:avLst>
              <a:gd name="adj" fmla="val 6807"/>
            </a:avLst>
          </a:prstGeom>
          <a:solidFill>
            <a:srgbClr val="FDFCF9"/>
          </a:solidFill>
          <a:ln w="12700">
            <a:solidFill>
              <a:srgbClr val="E2DED3"/>
            </a:solidFill>
            <a:prstDash val="solid"/>
          </a:ln>
        </p:spPr>
      </p:sp>
      <p:sp>
        <p:nvSpPr>
          <p:cNvPr id="24" name="Text 22"/>
          <p:cNvSpPr/>
          <p:nvPr/>
        </p:nvSpPr>
        <p:spPr>
          <a:xfrm>
            <a:off x="8005167"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7</a:t>
            </a:r>
            <a:endParaRPr lang="en-US" sz="1200" dirty="0"/>
          </a:p>
        </p:txBody>
      </p:sp>
      <p:sp>
        <p:nvSpPr>
          <p:cNvPr id="25" name="Text 23"/>
          <p:cNvSpPr/>
          <p:nvPr/>
        </p:nvSpPr>
        <p:spPr>
          <a:xfrm>
            <a:off x="8005167" y="25474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Apply to target</a:t>
            </a:r>
            <a:endParaRPr lang="en-US" sz="1200" dirty="0"/>
          </a:p>
        </p:txBody>
      </p:sp>
      <p:sp>
        <p:nvSpPr>
          <p:cNvPr id="26" name="Shape 24"/>
          <p:cNvSpPr/>
          <p:nvPr/>
        </p:nvSpPr>
        <p:spPr>
          <a:xfrm>
            <a:off x="9081162" y="2200808"/>
            <a:ext cx="1107744" cy="1026120"/>
          </a:xfrm>
          <a:prstGeom prst="roundRect">
            <a:avLst>
              <a:gd name="adj" fmla="val 6807"/>
            </a:avLst>
          </a:prstGeom>
          <a:solidFill>
            <a:srgbClr val="FDFCF9"/>
          </a:solidFill>
          <a:ln w="12700">
            <a:solidFill>
              <a:srgbClr val="E2DED3"/>
            </a:solidFill>
            <a:prstDash val="solid"/>
          </a:ln>
        </p:spPr>
      </p:sp>
      <p:sp>
        <p:nvSpPr>
          <p:cNvPr id="27" name="Text 25"/>
          <p:cNvSpPr/>
          <p:nvPr/>
        </p:nvSpPr>
        <p:spPr>
          <a:xfrm>
            <a:off x="9189112"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8</a:t>
            </a:r>
            <a:endParaRPr lang="en-US" sz="1200" dirty="0"/>
          </a:p>
        </p:txBody>
      </p:sp>
      <p:sp>
        <p:nvSpPr>
          <p:cNvPr id="28" name="Text 26"/>
          <p:cNvSpPr/>
          <p:nvPr/>
        </p:nvSpPr>
        <p:spPr>
          <a:xfrm>
            <a:off x="9189112" y="2547479"/>
            <a:ext cx="94264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Configure services</a:t>
            </a:r>
            <a:endParaRPr lang="en-US" sz="1200" dirty="0"/>
          </a:p>
        </p:txBody>
      </p:sp>
      <p:sp>
        <p:nvSpPr>
          <p:cNvPr id="29" name="Shape 27"/>
          <p:cNvSpPr/>
          <p:nvPr/>
        </p:nvSpPr>
        <p:spPr>
          <a:xfrm>
            <a:off x="10265106" y="2200808"/>
            <a:ext cx="1107744" cy="1026120"/>
          </a:xfrm>
          <a:prstGeom prst="roundRect">
            <a:avLst>
              <a:gd name="adj" fmla="val 6807"/>
            </a:avLst>
          </a:prstGeom>
          <a:solidFill>
            <a:srgbClr val="FDFCF9"/>
          </a:solidFill>
          <a:ln w="12700">
            <a:solidFill>
              <a:srgbClr val="E2DED3"/>
            </a:solidFill>
            <a:prstDash val="solid"/>
          </a:ln>
        </p:spPr>
      </p:sp>
      <p:sp>
        <p:nvSpPr>
          <p:cNvPr id="30" name="Text 28"/>
          <p:cNvSpPr/>
          <p:nvPr/>
        </p:nvSpPr>
        <p:spPr>
          <a:xfrm>
            <a:off x="10373056" y="2308758"/>
            <a:ext cx="9426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9</a:t>
            </a:r>
            <a:endParaRPr lang="en-US" sz="1200" dirty="0"/>
          </a:p>
        </p:txBody>
      </p:sp>
      <p:sp>
        <p:nvSpPr>
          <p:cNvPr id="31" name="Text 29"/>
          <p:cNvSpPr/>
          <p:nvPr/>
        </p:nvSpPr>
        <p:spPr>
          <a:xfrm>
            <a:off x="10373056" y="2547479"/>
            <a:ext cx="94264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4213D"/>
                </a:solidFill>
                <a:latin typeface="IBM Plex Sans" pitchFamily="34" charset="0"/>
                <a:ea typeface="IBM Plex Sans" pitchFamily="34" charset="-122"/>
                <a:cs typeface="IBM Plex Sans" pitchFamily="34" charset="-120"/>
              </a:rPr>
              <a:t>Validate</a:t>
            </a:r>
            <a:endParaRPr lang="en-US" sz="1200" dirty="0"/>
          </a:p>
        </p:txBody>
      </p:sp>
      <p:sp>
        <p:nvSpPr>
          <p:cNvPr id="32" name="Text 30"/>
          <p:cNvSpPr/>
          <p:nvPr/>
        </p:nvSpPr>
        <p:spPr>
          <a:xfrm>
            <a:off x="812800" y="3436479"/>
            <a:ext cx="1088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Infrastructure order, run on Container Apps runners with approved Azure identity</a:t>
            </a:r>
            <a:endParaRPr lang="en-US" sz="1400" dirty="0"/>
          </a:p>
        </p:txBody>
      </p:sp>
      <p:sp>
        <p:nvSpPr>
          <p:cNvPr id="33" name="Text 31"/>
          <p:cNvSpPr/>
          <p:nvPr/>
        </p:nvSpPr>
        <p:spPr>
          <a:xfrm>
            <a:off x="8128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Manifest and modules</a:t>
            </a:r>
            <a:endParaRPr lang="en-US" sz="1200" dirty="0"/>
          </a:p>
        </p:txBody>
      </p:sp>
      <p:pic>
        <p:nvPicPr>
          <p:cNvPr id="34" name="Image 0" descr="arrow-right">    </p:cNvPr>
          <p:cNvPicPr>
            <a:picLocks noChangeAspect="1"/>
          </p:cNvPicPr>
          <p:nvPr/>
        </p:nvPicPr>
        <p:blipFill>
          <a:blip r:embed="rId1"/>
          <a:srcRect l="0" r="0" t="0" b="0"/>
          <a:stretch/>
        </p:blipFill>
        <p:spPr>
          <a:xfrm>
            <a:off x="2311400" y="4101902"/>
            <a:ext cx="254000" cy="152400"/>
          </a:xfrm>
          <a:prstGeom prst="rect">
            <a:avLst/>
          </a:prstGeom>
        </p:spPr>
      </p:pic>
      <p:sp>
        <p:nvSpPr>
          <p:cNvPr id="35" name="Text 32"/>
          <p:cNvSpPr/>
          <p:nvPr/>
        </p:nvSpPr>
        <p:spPr>
          <a:xfrm>
            <a:off x="2641600" y="3952019"/>
            <a:ext cx="1422400" cy="452107"/>
          </a:xfrm>
          <a:prstGeom prst="roundRect">
            <a:avLst>
              <a:gd name="adj" fmla="val 16854"/>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Foundation</a:t>
            </a:r>
            <a:endParaRPr lang="en-US" sz="1200" dirty="0"/>
          </a:p>
        </p:txBody>
      </p:sp>
      <p:pic>
        <p:nvPicPr>
          <p:cNvPr id="36" name="Image 1" descr="arrow-right">    </p:cNvPr>
          <p:cNvPicPr>
            <a:picLocks noChangeAspect="1"/>
          </p:cNvPicPr>
          <p:nvPr/>
        </p:nvPicPr>
        <p:blipFill>
          <a:blip r:embed="rId2"/>
          <a:srcRect l="0" r="0" t="0" b="0"/>
          <a:stretch/>
        </p:blipFill>
        <p:spPr>
          <a:xfrm>
            <a:off x="4140200" y="4101902"/>
            <a:ext cx="254000" cy="152400"/>
          </a:xfrm>
          <a:prstGeom prst="rect">
            <a:avLst/>
          </a:prstGeom>
        </p:spPr>
      </p:pic>
      <p:sp>
        <p:nvSpPr>
          <p:cNvPr id="37" name="Text 33"/>
          <p:cNvSpPr/>
          <p:nvPr/>
        </p:nvSpPr>
        <p:spPr>
          <a:xfrm>
            <a:off x="44704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Core services in parallel</a:t>
            </a:r>
            <a:endParaRPr lang="en-US" sz="1200" dirty="0"/>
          </a:p>
        </p:txBody>
      </p:sp>
      <p:pic>
        <p:nvPicPr>
          <p:cNvPr id="38" name="Image 2" descr="arrow-right">    </p:cNvPr>
          <p:cNvPicPr>
            <a:picLocks noChangeAspect="1"/>
          </p:cNvPicPr>
          <p:nvPr/>
        </p:nvPicPr>
        <p:blipFill>
          <a:blip r:embed="rId3"/>
          <a:srcRect l="0" r="0" t="0" b="0"/>
          <a:stretch/>
        </p:blipFill>
        <p:spPr>
          <a:xfrm>
            <a:off x="5969000" y="4101902"/>
            <a:ext cx="254000" cy="152400"/>
          </a:xfrm>
          <a:prstGeom prst="rect">
            <a:avLst/>
          </a:prstGeom>
        </p:spPr>
      </p:pic>
      <p:sp>
        <p:nvSpPr>
          <p:cNvPr id="39" name="Text 34"/>
          <p:cNvSpPr/>
          <p:nvPr/>
        </p:nvSpPr>
        <p:spPr>
          <a:xfrm>
            <a:off x="62992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Private endpoints and DNS</a:t>
            </a:r>
            <a:endParaRPr lang="en-US" sz="1200" dirty="0"/>
          </a:p>
        </p:txBody>
      </p:sp>
      <p:pic>
        <p:nvPicPr>
          <p:cNvPr id="40" name="Image 3" descr="arrow-right">    </p:cNvPr>
          <p:cNvPicPr>
            <a:picLocks noChangeAspect="1"/>
          </p:cNvPicPr>
          <p:nvPr/>
        </p:nvPicPr>
        <p:blipFill>
          <a:blip r:embed="rId4"/>
          <a:srcRect l="0" r="0" t="0" b="0"/>
          <a:stretch/>
        </p:blipFill>
        <p:spPr>
          <a:xfrm>
            <a:off x="7797800" y="4101902"/>
            <a:ext cx="254000" cy="152400"/>
          </a:xfrm>
          <a:prstGeom prst="rect">
            <a:avLst/>
          </a:prstGeom>
        </p:spPr>
      </p:pic>
      <p:sp>
        <p:nvSpPr>
          <p:cNvPr id="41" name="Text 35"/>
          <p:cNvSpPr/>
          <p:nvPr/>
        </p:nvSpPr>
        <p:spPr>
          <a:xfrm>
            <a:off x="8128000" y="3952019"/>
            <a:ext cx="1422400" cy="452107"/>
          </a:xfrm>
          <a:prstGeom prst="roundRect">
            <a:avLst>
              <a:gd name="adj" fmla="val 16854"/>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RBAC and ACLs</a:t>
            </a:r>
            <a:endParaRPr lang="en-US" sz="1200" dirty="0"/>
          </a:p>
        </p:txBody>
      </p:sp>
      <p:pic>
        <p:nvPicPr>
          <p:cNvPr id="42" name="Image 4" descr="arrow-right">    </p:cNvPr>
          <p:cNvPicPr>
            <a:picLocks noChangeAspect="1"/>
          </p:cNvPicPr>
          <p:nvPr/>
        </p:nvPicPr>
        <p:blipFill>
          <a:blip r:embed="rId5"/>
          <a:srcRect l="0" r="0" t="0" b="0"/>
          <a:stretch/>
        </p:blipFill>
        <p:spPr>
          <a:xfrm>
            <a:off x="9626600" y="4101902"/>
            <a:ext cx="254000" cy="152400"/>
          </a:xfrm>
          <a:prstGeom prst="rect">
            <a:avLst/>
          </a:prstGeom>
        </p:spPr>
      </p:pic>
      <p:sp>
        <p:nvSpPr>
          <p:cNvPr id="43" name="Text 36"/>
          <p:cNvSpPr/>
          <p:nvPr/>
        </p:nvSpPr>
        <p:spPr>
          <a:xfrm>
            <a:off x="9956800" y="3852999"/>
            <a:ext cx="1422400" cy="650214"/>
          </a:xfrm>
          <a:prstGeom prst="roundRect">
            <a:avLst>
              <a:gd name="adj" fmla="val 11719"/>
            </a:avLst>
          </a:prstGeom>
          <a:solidFill>
            <a:srgbClr val="14213D"/>
          </a:solidFill>
          <a:ln/>
        </p:spPr>
        <p:txBody>
          <a:bodyPr wrap="square" lIns="28482" tIns="104682" rIns="28482" bIns="79282" rtlCol="0" anchor="t">
            <a:normAutofit/>
          </a:bodyPr>
          <a:lstStyle/>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Databricks and Unity Catalog</a:t>
            </a:r>
            <a:endParaRPr lang="en-US" sz="1200" dirty="0"/>
          </a:p>
        </p:txBody>
      </p:sp>
      <p:sp>
        <p:nvSpPr>
          <p:cNvPr id="44" name="Text 37"/>
          <p:cNvSpPr/>
          <p:nvPr/>
        </p:nvSpPr>
        <p:spPr>
          <a:xfrm>
            <a:off x="812800" y="470641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Controls:</a:t>
            </a:r>
            <a:r>
              <a:rPr lang="en-US" sz="1200" dirty="0">
                <a:solidFill>
                  <a:srgbClr val="4A5568"/>
                </a:solidFill>
                <a:latin typeface="IBM Plex Sans" pitchFamily="34" charset="0"/>
                <a:ea typeface="IBM Plex Sans" pitchFamily="34" charset="-122"/>
                <a:cs typeface="IBM Plex Sans" pitchFamily="34" charset="-120"/>
              </a:rPr>
              <a:t> approved runner groups with private network access · prod and non-prod separated · existing Terraform state backend kept · module order preserved · reusable workflows only where behavior is shared.</a:t>
            </a:r>
            <a:endParaRPr lang="en-US" sz="1200" dirty="0"/>
          </a:p>
        </p:txBody>
      </p:sp>
      <p:sp>
        <p:nvSpPr>
          <p:cNvPr id="45"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CLASSIC RELEASES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302 classic releases become YAML workflows</a:t>
            </a:r>
            <a:endParaRPr lang="en-US" sz="3200" dirty="0"/>
          </a:p>
        </p:txBody>
      </p:sp>
      <p:sp>
        <p:nvSpPr>
          <p:cNvPr id="4" name="Shape 2"/>
          <p:cNvSpPr/>
          <p:nvPr/>
        </p:nvSpPr>
        <p:spPr>
          <a:xfrm>
            <a:off x="819150" y="1809688"/>
            <a:ext cx="5181600" cy="2653903"/>
          </a:xfrm>
          <a:prstGeom prst="roundRect">
            <a:avLst>
              <a:gd name="adj" fmla="val 3589"/>
            </a:avLst>
          </a:prstGeom>
          <a:solidFill>
            <a:srgbClr val="FDFCF9"/>
          </a:solidFill>
          <a:ln w="12700">
            <a:solidFill>
              <a:srgbClr val="E2DED3"/>
            </a:solidFill>
            <a:prstDash val="solid"/>
          </a:ln>
        </p:spPr>
      </p:sp>
      <p:sp>
        <p:nvSpPr>
          <p:cNvPr id="5" name="Text 3"/>
          <p:cNvSpPr/>
          <p:nvPr/>
        </p:nvSpPr>
        <p:spPr>
          <a:xfrm>
            <a:off x="1028700" y="20192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Release strategy</a:t>
            </a:r>
            <a:endParaRPr lang="en-US" sz="1400" dirty="0"/>
          </a:p>
        </p:txBody>
      </p:sp>
      <p:sp>
        <p:nvSpPr>
          <p:cNvPr id="6" name="Text 4"/>
          <p:cNvSpPr/>
          <p:nvPr/>
        </p:nvSpPr>
        <p:spPr>
          <a:xfrm>
            <a:off x="1127506" y="2334158"/>
            <a:ext cx="4798949" cy="1945283"/>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Inventory each release: ID, owner, artifacts, stages, targets, variables, approvals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Rebuild retained releases as workflows with deployment controls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Compare behavior in non-prod before production cutover</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Exclude a release only when its owner confirms it is unneeded or a true duplicate</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 matching name or an Archive/testing folder is not enough to exclude it</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Keep the ADO path available during the agreed rollback period</a:t>
            </a:r>
            <a:endParaRPr lang="en-US" sz="1200" dirty="0"/>
          </a:p>
        </p:txBody>
      </p:sp>
      <p:sp>
        <p:nvSpPr>
          <p:cNvPr id="7" name="Shape 5"/>
          <p:cNvSpPr/>
          <p:nvPr/>
        </p:nvSpPr>
        <p:spPr>
          <a:xfrm>
            <a:off x="6210300" y="1803338"/>
            <a:ext cx="5168900" cy="2666603"/>
          </a:xfrm>
          <a:prstGeom prst="roundRect">
            <a:avLst>
              <a:gd name="adj" fmla="val 3810"/>
            </a:avLst>
          </a:prstGeom>
          <a:solidFill>
            <a:srgbClr val="14213D"/>
          </a:solidFill>
          <a:ln/>
        </p:spPr>
      </p:sp>
      <p:sp>
        <p:nvSpPr>
          <p:cNvPr id="8" name="Text 6"/>
          <p:cNvSpPr/>
          <p:nvPr/>
        </p:nvSpPr>
        <p:spPr>
          <a:xfrm>
            <a:off x="6413500" y="20065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Automate the conversion</a:t>
            </a:r>
            <a:endParaRPr lang="en-US" sz="1400" dirty="0"/>
          </a:p>
        </p:txBody>
      </p:sp>
      <p:sp>
        <p:nvSpPr>
          <p:cNvPr id="9" name="Text 7"/>
          <p:cNvSpPr/>
          <p:nvPr/>
        </p:nvSpPr>
        <p:spPr>
          <a:xfrm>
            <a:off x="6498564" y="2321458"/>
            <a:ext cx="4812691" cy="1092002"/>
          </a:xfrm>
          <a:prstGeom prst="rect">
            <a:avLst/>
          </a:prstGeom>
          <a:noFill/>
          <a:ln/>
        </p:spPr>
        <p:txBody>
          <a:bodyPr wrap="square" lIns="0" tIns="0" rIns="0" bIns="0" rtlCol="0" anchor="t">
            <a:normAutofit/>
          </a:bodyPr>
          <a:lstStyle/>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Read each classic definition through the REST API</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Export variables into one file per environment</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Generate a workflow that extends a shared template</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Open a PR per repo for owner review</a:t>
            </a:r>
            <a:endParaRPr lang="en-US" sz="1200" dirty="0"/>
          </a:p>
          <a:p>
            <a:pPr algn="l" marL="168936" indent="-168936">
              <a:lnSpc>
                <a:spcPts val="1680"/>
              </a:lnSpc>
              <a:buSzPct val="100000"/>
              <a:buFontTx/>
              <a:buAutoNum type="arabicPeriod" startAt="1"/>
            </a:pPr>
            <a:r>
              <a:rPr lang="en-US" sz="1200" dirty="0">
                <a:solidFill>
                  <a:srgbClr val="F6F4EE"/>
                </a:solidFill>
                <a:latin typeface="IBM Plex Sans" pitchFamily="34" charset="0"/>
                <a:ea typeface="IBM Plex Sans" pitchFamily="34" charset="-122"/>
                <a:cs typeface="IBM Plex Sans" pitchFamily="34" charset="-120"/>
              </a:rPr>
              <a:t>Move the classic definition to an Archive folder</a:t>
            </a:r>
            <a:endParaRPr lang="en-US" sz="1200" dirty="0"/>
          </a:p>
        </p:txBody>
      </p:sp>
      <p:sp>
        <p:nvSpPr>
          <p:cNvPr id="10" name="Text 8"/>
          <p:cNvSpPr/>
          <p:nvPr/>
        </p:nvSpPr>
        <p:spPr>
          <a:xfrm>
            <a:off x="6413500" y="3489660"/>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At this scale a script beats hand conversion; secrets and approvals still need manual mapping.</a:t>
            </a:r>
            <a:endParaRPr lang="en-US" sz="1200" dirty="0"/>
          </a:p>
        </p:txBody>
      </p:sp>
      <p:sp>
        <p:nvSpPr>
          <p:cNvPr id="11" name="Text 9"/>
          <p:cNvSpPr/>
          <p:nvPr/>
        </p:nvSpPr>
        <p:spPr>
          <a:xfrm>
            <a:off x="812800" y="4698541"/>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11,262 approval entries exist in release-definition metadata. That is not a count of real approval requests, and does not set how many GitHub approvals are needed.</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Approach adapted from martdegraaf.nl, “Migrating classic to YAML releases” · ADO to GitHub migration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Self-hosted agents become GitHub runners</a:t>
            </a:r>
            <a:endParaRPr lang="en-US" sz="3200" dirty="0"/>
          </a:p>
        </p:txBody>
      </p:sp>
      <p:sp>
        <p:nvSpPr>
          <p:cNvPr id="4" name="Shape 2"/>
          <p:cNvSpPr/>
          <p:nvPr/>
        </p:nvSpPr>
        <p:spPr>
          <a:xfrm>
            <a:off x="819150" y="1809688"/>
            <a:ext cx="5181600" cy="2369542"/>
          </a:xfrm>
          <a:prstGeom prst="roundRect">
            <a:avLst>
              <a:gd name="adj" fmla="val 4020"/>
            </a:avLst>
          </a:prstGeom>
          <a:solidFill>
            <a:srgbClr val="FDFCF9"/>
          </a:solidFill>
          <a:ln w="12700">
            <a:solidFill>
              <a:srgbClr val="E2DED3"/>
            </a:solidFill>
            <a:prstDash val="solid"/>
          </a:ln>
        </p:spPr>
      </p:sp>
      <p:sp>
        <p:nvSpPr>
          <p:cNvPr id="5" name="Text 3"/>
          <p:cNvSpPr/>
          <p:nvPr/>
        </p:nvSpPr>
        <p:spPr>
          <a:xfrm>
            <a:off x="1028700" y="20192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As-is · ADO agent pools</a:t>
            </a:r>
            <a:endParaRPr lang="en-US" sz="1400" dirty="0"/>
          </a:p>
        </p:txBody>
      </p:sp>
      <p:sp>
        <p:nvSpPr>
          <p:cNvPr id="6" name="Text 4"/>
          <p:cNvSpPr/>
          <p:nvPr/>
        </p:nvSpPr>
        <p:spPr>
          <a:xfrm>
            <a:off x="1028700" y="2359558"/>
            <a:ext cx="15705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10</a:t>
            </a:r>
            <a:endParaRPr lang="en-US" sz="2800" dirty="0"/>
          </a:p>
        </p:txBody>
      </p:sp>
      <p:sp>
        <p:nvSpPr>
          <p:cNvPr id="7" name="Text 5"/>
          <p:cNvSpPr/>
          <p:nvPr/>
        </p:nvSpPr>
        <p:spPr>
          <a:xfrm>
            <a:off x="1028700" y="2776079"/>
            <a:ext cx="1570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non-hosted pools</a:t>
            </a:r>
            <a:endParaRPr lang="en-US" sz="1200" dirty="0"/>
          </a:p>
        </p:txBody>
      </p:sp>
      <p:sp>
        <p:nvSpPr>
          <p:cNvPr id="8" name="Text 6"/>
          <p:cNvSpPr/>
          <p:nvPr/>
        </p:nvSpPr>
        <p:spPr>
          <a:xfrm>
            <a:off x="2650067" y="2359558"/>
            <a:ext cx="15705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460</a:t>
            </a:r>
            <a:endParaRPr lang="en-US" sz="2800" dirty="0"/>
          </a:p>
        </p:txBody>
      </p:sp>
      <p:sp>
        <p:nvSpPr>
          <p:cNvPr id="9" name="Text 7"/>
          <p:cNvSpPr/>
          <p:nvPr/>
        </p:nvSpPr>
        <p:spPr>
          <a:xfrm>
            <a:off x="2650067" y="2776079"/>
            <a:ext cx="1570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registered agents</a:t>
            </a:r>
            <a:endParaRPr lang="en-US" sz="1200" dirty="0"/>
          </a:p>
        </p:txBody>
      </p:sp>
      <p:sp>
        <p:nvSpPr>
          <p:cNvPr id="10" name="Text 8"/>
          <p:cNvSpPr/>
          <p:nvPr/>
        </p:nvSpPr>
        <p:spPr>
          <a:xfrm>
            <a:off x="4271433" y="2359558"/>
            <a:ext cx="15705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213D"/>
                </a:solidFill>
                <a:latin typeface="IBM Plex Sans" pitchFamily="34" charset="0"/>
                <a:ea typeface="IBM Plex Sans" pitchFamily="34" charset="-122"/>
                <a:cs typeface="IBM Plex Sans" pitchFamily="34" charset="-120"/>
              </a:rPr>
              <a:t>266</a:t>
            </a:r>
            <a:endParaRPr lang="en-US" sz="2800" dirty="0"/>
          </a:p>
        </p:txBody>
      </p:sp>
      <p:sp>
        <p:nvSpPr>
          <p:cNvPr id="11" name="Text 9"/>
          <p:cNvSpPr/>
          <p:nvPr/>
        </p:nvSpPr>
        <p:spPr>
          <a:xfrm>
            <a:off x="4271433" y="2776079"/>
            <a:ext cx="15705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online when checked</a:t>
            </a:r>
            <a:endParaRPr lang="en-US" sz="1200" dirty="0"/>
          </a:p>
        </p:txBody>
      </p:sp>
      <p:sp>
        <p:nvSpPr>
          <p:cNvPr id="12" name="Text 10"/>
          <p:cNvSpPr/>
          <p:nvPr/>
        </p:nvSpPr>
        <p:spPr>
          <a:xfrm>
            <a:off x="1127506" y="3116399"/>
            <a:ext cx="4798949"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Counts are organization-wide, not Platform-only</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Platform has queues linked to all 10 pools</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Pipeline-to-pool usage not yet fully mapped</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37 worker names seen; naming does not prove pool membership</a:t>
            </a:r>
            <a:endParaRPr lang="en-US" sz="1200" dirty="0"/>
          </a:p>
        </p:txBody>
      </p:sp>
      <p:sp>
        <p:nvSpPr>
          <p:cNvPr id="13" name="Shape 11"/>
          <p:cNvSpPr/>
          <p:nvPr/>
        </p:nvSpPr>
        <p:spPr>
          <a:xfrm>
            <a:off x="6210300" y="1803338"/>
            <a:ext cx="5168900" cy="2382242"/>
          </a:xfrm>
          <a:prstGeom prst="roundRect">
            <a:avLst>
              <a:gd name="adj" fmla="val 4265"/>
            </a:avLst>
          </a:prstGeom>
          <a:solidFill>
            <a:srgbClr val="14213D"/>
          </a:solidFill>
          <a:ln/>
        </p:spPr>
      </p:sp>
      <p:sp>
        <p:nvSpPr>
          <p:cNvPr id="14" name="Text 12"/>
          <p:cNvSpPr/>
          <p:nvPr/>
        </p:nvSpPr>
        <p:spPr>
          <a:xfrm>
            <a:off x="6413500" y="2006538"/>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To-be · Container Apps runners</a:t>
            </a:r>
            <a:endParaRPr lang="en-US" sz="1400" dirty="0"/>
          </a:p>
        </p:txBody>
      </p:sp>
      <p:sp>
        <p:nvSpPr>
          <p:cNvPr id="15" name="Text 13"/>
          <p:cNvSpPr/>
          <p:nvPr/>
        </p:nvSpPr>
        <p:spPr>
          <a:xfrm>
            <a:off x="6413500" y="2346858"/>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Approved: self-hosted GitHub runners on Azure Container Apps.</a:t>
            </a:r>
            <a:endParaRPr lang="en-US" sz="1200" dirty="0"/>
          </a:p>
        </p:txBody>
      </p:sp>
      <p:sp>
        <p:nvSpPr>
          <p:cNvPr id="16" name="Text 14"/>
          <p:cNvSpPr/>
          <p:nvPr/>
        </p:nvSpPr>
        <p:spPr>
          <a:xfrm>
            <a:off x="6512306" y="2687179"/>
            <a:ext cx="4798949"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Each ADO pool maps to a GitHub runner group</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Runner images carry the tools and versions pipelines need</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Private networking, approved identity, scaling and logging</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Prod and non-prod separated</a:t>
            </a:r>
            <a:endParaRPr lang="en-US" sz="1200" dirty="0"/>
          </a:p>
          <a:p>
            <a:pPr algn="l" marL="155194" indent="-155194">
              <a:lnSpc>
                <a:spcPts val="1680"/>
              </a:lnSpc>
              <a:buSzPct val="100000"/>
              <a:buChar char="•"/>
            </a:pPr>
            <a:r>
              <a:rPr lang="en-US" sz="1200" dirty="0">
                <a:solidFill>
                  <a:srgbClr val="BFC8D8"/>
                </a:solidFill>
                <a:latin typeface="IBM Plex Sans" pitchFamily="34" charset="0"/>
                <a:ea typeface="IBM Plex Sans" pitchFamily="34" charset="-122"/>
                <a:cs typeface="IBM Plex Sans" pitchFamily="34" charset="-120"/>
              </a:rPr>
              <a:t>An ADO agent retires only after its workloads pass validation</a:t>
            </a:r>
            <a:endParaRPr lang="en-US" sz="1200" dirty="0"/>
          </a:p>
        </p:txBody>
      </p:sp>
      <p:sp>
        <p:nvSpPr>
          <p:cNvPr id="17" name="Text 15"/>
          <p:cNvSpPr/>
          <p:nvPr/>
        </p:nvSpPr>
        <p:spPr>
          <a:xfrm>
            <a:off x="812800" y="441418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81B"/>
                </a:solidFill>
                <a:latin typeface="IBM Plex Sans" pitchFamily="34" charset="0"/>
                <a:ea typeface="IBM Plex Sans" pitchFamily="34" charset="-122"/>
                <a:cs typeface="IBM Plex Sans" pitchFamily="34" charset="-120"/>
              </a:rPr>
              <a:t>Design implication:</a:t>
            </a:r>
            <a:r>
              <a:rPr lang="en-US" sz="1300" dirty="0">
                <a:solidFill>
                  <a:srgbClr val="4A5568"/>
                </a:solidFill>
                <a:latin typeface="IBM Plex Sans" pitchFamily="34" charset="0"/>
                <a:ea typeface="IBM Plex Sans" pitchFamily="34" charset="-122"/>
                <a:cs typeface="IBM Plex Sans" pitchFamily="34" charset="-120"/>
              </a:rPr>
              <a:t> inventory runner networking, tools, identity, capacity and production access before migrating infrastructure pipelines.</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TO-BE · APPROVED DESIGN</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Target runner architecture</a:t>
            </a:r>
            <a:endParaRPr lang="en-US" sz="3200" dirty="0"/>
          </a:p>
        </p:txBody>
      </p:sp>
      <p:sp>
        <p:nvSpPr>
          <p:cNvPr id="4" name="Text 2"/>
          <p:cNvSpPr/>
          <p:nvPr/>
        </p:nvSpPr>
        <p:spPr>
          <a:xfrm>
            <a:off x="819150" y="2279650"/>
            <a:ext cx="2019300" cy="622300"/>
          </a:xfrm>
          <a:custGeom>
            <a:avLst/>
            <a:gdLst/>
            <a:ahLst/>
            <a:cxnLst/>
            <a:rect l="l" t="t" r="r" b="b"/>
            <a:pathLst>
              <a:path w="2019300" h="622300">
                <a:moveTo>
                  <a:pt x="69850" y="0"/>
                </a:moveTo>
                <a:lnTo>
                  <a:pt x="1949450" y="0"/>
                </a:lnTo>
                <a:arcTo hR="69850" wR="69850" stAng="16200000" swAng="5400000"/>
                <a:lnTo>
                  <a:pt x="2019300" y="552450"/>
                </a:lnTo>
                <a:arcTo hR="69850" wR="69850" stAng="0" swAng="5400000"/>
                <a:lnTo>
                  <a:pt x="69850" y="622300"/>
                </a:lnTo>
                <a:arcTo hR="69850" wR="69850" stAng="5400000" swAng="5400000"/>
                <a:lnTo>
                  <a:pt x="0" y="69850"/>
                </a:lnTo>
                <a:arcTo hR="69850" wR="69850" stAng="10800000" swAng="5400000"/>
                <a:close/>
              </a:path>
            </a:pathLst>
          </a:custGeom>
          <a:solidFill>
            <a:srgbClr val="FDFCF9"/>
          </a:solidFill>
          <a:ln w="12700">
            <a:solidFill>
              <a:srgbClr val="14213D"/>
            </a:solidFill>
            <a:prstDash val="solid"/>
          </a:ln>
        </p:spPr>
        <p:txBody>
          <a:bodyPr wrap="square" lIns="6350" tIns="6350" rIns="6350" bIns="6350" rtlCol="0" anchor="ctr">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GitHub Actions workflow</a:t>
            </a:r>
            <a:endParaRPr lang="en-US" sz="1300" dirty="0"/>
          </a:p>
        </p:txBody>
      </p:sp>
      <p:sp>
        <p:nvSpPr>
          <p:cNvPr id="5" name="Text 3"/>
          <p:cNvSpPr/>
          <p:nvPr/>
        </p:nvSpPr>
        <p:spPr>
          <a:xfrm>
            <a:off x="3359150" y="2279650"/>
            <a:ext cx="2019300" cy="622300"/>
          </a:xfrm>
          <a:prstGeom prst="roundRect">
            <a:avLst>
              <a:gd name="adj" fmla="val 11224"/>
            </a:avLst>
          </a:prstGeom>
          <a:solidFill>
            <a:srgbClr val="FDFCF9"/>
          </a:solidFill>
          <a:ln w="12700">
            <a:solidFill>
              <a:srgbClr val="14213D"/>
            </a:solidFill>
            <a:prstDash val="solid"/>
          </a:ln>
        </p:spPr>
        <p:txBody>
          <a:bodyPr wrap="square" lIns="0" tIns="0" rIns="0" bIns="0" rtlCol="0" anchor="ctr">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Approved runner group</a:t>
            </a:r>
            <a:endParaRPr lang="en-US" sz="1300" dirty="0"/>
          </a:p>
        </p:txBody>
      </p:sp>
      <p:sp>
        <p:nvSpPr>
          <p:cNvPr id="6" name="Text 4"/>
          <p:cNvSpPr/>
          <p:nvPr/>
        </p:nvSpPr>
        <p:spPr>
          <a:xfrm>
            <a:off x="5892800" y="2209800"/>
            <a:ext cx="2413000" cy="762000"/>
          </a:xfrm>
          <a:prstGeom prst="roundRect">
            <a:avLst>
              <a:gd name="adj" fmla="val 10000"/>
            </a:avLst>
          </a:prstGeom>
          <a:solidFill>
            <a:srgbClr val="14213D"/>
          </a:solidFill>
          <a:ln/>
        </p:spPr>
        <p:txBody>
          <a:bodyPr wrap="square" lIns="46135" tIns="79282" rIns="46135" bIns="79282" rtlCol="0" anchor="ctr">
            <a:normAutofit/>
          </a:bodyPr>
          <a:lstStyle/>
          <a:p>
            <a:pPr algn="ct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Self-hosted runners on Azure Container Apps</a:t>
            </a:r>
            <a:endParaRPr lang="en-US" sz="1300" dirty="0"/>
          </a:p>
        </p:txBody>
      </p:sp>
      <p:sp>
        <p:nvSpPr>
          <p:cNvPr id="7" name="Text 5"/>
          <p:cNvSpPr/>
          <p:nvPr/>
        </p:nvSpPr>
        <p:spPr>
          <a:xfrm>
            <a:off x="8940800" y="1701800"/>
            <a:ext cx="2438400" cy="533400"/>
          </a:xfrm>
          <a:prstGeom prst="roundRect">
            <a:avLst>
              <a:gd name="adj" fmla="val 14286"/>
            </a:avLst>
          </a:prstGeom>
          <a:solidFill>
            <a:srgbClr val="F9E3D3"/>
          </a:solidFill>
          <a:ln/>
        </p:spPr>
        <p:txBody>
          <a:bodyPr wrap="square" lIns="53882" tIns="53882" rIns="53882" bIns="53882"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Terraform and deployment tools</a:t>
            </a:r>
            <a:endParaRPr lang="en-US" sz="1200" dirty="0"/>
          </a:p>
        </p:txBody>
      </p:sp>
      <p:sp>
        <p:nvSpPr>
          <p:cNvPr id="8" name="Text 6"/>
          <p:cNvSpPr/>
          <p:nvPr/>
        </p:nvSpPr>
        <p:spPr>
          <a:xfrm>
            <a:off x="8940800" y="2324100"/>
            <a:ext cx="2438400" cy="533400"/>
          </a:xfrm>
          <a:prstGeom prst="roundRect">
            <a:avLst>
              <a:gd name="adj" fmla="val 14286"/>
            </a:avLst>
          </a:prstGeom>
          <a:solidFill>
            <a:srgbClr val="F9E3D3"/>
          </a:solidFill>
          <a:ln/>
        </p:spPr>
        <p:txBody>
          <a:bodyPr wrap="square" lIns="53882" tIns="53882" rIns="53882" bIns="53882"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Private deployment targets</a:t>
            </a:r>
            <a:endParaRPr lang="en-US" sz="1200" dirty="0"/>
          </a:p>
        </p:txBody>
      </p:sp>
      <p:sp>
        <p:nvSpPr>
          <p:cNvPr id="9" name="Text 7"/>
          <p:cNvSpPr/>
          <p:nvPr/>
        </p:nvSpPr>
        <p:spPr>
          <a:xfrm>
            <a:off x="8940800" y="2946400"/>
            <a:ext cx="2438400" cy="533400"/>
          </a:xfrm>
          <a:prstGeom prst="roundRect">
            <a:avLst>
              <a:gd name="adj" fmla="val 14286"/>
            </a:avLst>
          </a:prstGeom>
          <a:solidFill>
            <a:srgbClr val="F9E3D3"/>
          </a:solidFill>
          <a:ln/>
        </p:spPr>
        <p:txBody>
          <a:bodyPr wrap="square" lIns="19592" tIns="18361" rIns="19592" bIns="18361"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Azure resources via approved identity</a:t>
            </a:r>
            <a:endParaRPr lang="en-US" sz="1200" dirty="0"/>
          </a:p>
        </p:txBody>
      </p:sp>
      <p:pic>
        <p:nvPicPr>
          <p:cNvPr id="10" name="Image 0" descr="connector">    </p:cNvPr>
          <p:cNvPicPr>
            <a:picLocks noChangeAspect="1"/>
          </p:cNvPicPr>
          <p:nvPr/>
        </p:nvPicPr>
        <p:blipFill>
          <a:blip r:embed="rId1"/>
          <a:srcRect l="0" r="0" t="0" b="0"/>
          <a:stretch/>
        </p:blipFill>
        <p:spPr>
          <a:xfrm>
            <a:off x="2794000" y="2540000"/>
            <a:ext cx="609600" cy="101600"/>
          </a:xfrm>
          <a:prstGeom prst="rect">
            <a:avLst/>
          </a:prstGeom>
        </p:spPr>
      </p:pic>
      <p:pic>
        <p:nvPicPr>
          <p:cNvPr id="11" name="Image 1" descr="connector">    </p:cNvPr>
          <p:cNvPicPr>
            <a:picLocks noChangeAspect="1"/>
          </p:cNvPicPr>
          <p:nvPr/>
        </p:nvPicPr>
        <p:blipFill>
          <a:blip r:embed="rId2"/>
          <a:srcRect l="0" r="0" t="0" b="0"/>
          <a:stretch/>
        </p:blipFill>
        <p:spPr>
          <a:xfrm>
            <a:off x="5334000" y="2540000"/>
            <a:ext cx="609600" cy="101600"/>
          </a:xfrm>
          <a:prstGeom prst="rect">
            <a:avLst/>
          </a:prstGeom>
        </p:spPr>
      </p:pic>
      <p:pic>
        <p:nvPicPr>
          <p:cNvPr id="12" name="Image 2" descr="connector">    </p:cNvPr>
          <p:cNvPicPr>
            <a:picLocks noChangeAspect="1"/>
          </p:cNvPicPr>
          <p:nvPr/>
        </p:nvPicPr>
        <p:blipFill>
          <a:blip r:embed="rId3"/>
          <a:srcRect l="0" r="0" t="0" b="0"/>
          <a:stretch/>
        </p:blipFill>
        <p:spPr>
          <a:xfrm>
            <a:off x="8255000" y="1917700"/>
            <a:ext cx="736600" cy="596900"/>
          </a:xfrm>
          <a:prstGeom prst="rect">
            <a:avLst/>
          </a:prstGeom>
        </p:spPr>
      </p:pic>
      <p:pic>
        <p:nvPicPr>
          <p:cNvPr id="13" name="Image 3" descr="connector">    </p:cNvPr>
          <p:cNvPicPr>
            <a:picLocks noChangeAspect="1"/>
          </p:cNvPicPr>
          <p:nvPr/>
        </p:nvPicPr>
        <p:blipFill>
          <a:blip r:embed="rId4"/>
          <a:srcRect l="0" r="0" t="0" b="0"/>
          <a:stretch/>
        </p:blipFill>
        <p:spPr>
          <a:xfrm>
            <a:off x="8255000" y="2540000"/>
            <a:ext cx="736600" cy="101600"/>
          </a:xfrm>
          <a:prstGeom prst="rect">
            <a:avLst/>
          </a:prstGeom>
        </p:spPr>
      </p:pic>
      <p:pic>
        <p:nvPicPr>
          <p:cNvPr id="14" name="Image 4" descr="connector">    </p:cNvPr>
          <p:cNvPicPr>
            <a:picLocks noChangeAspect="1"/>
          </p:cNvPicPr>
          <p:nvPr/>
        </p:nvPicPr>
        <p:blipFill>
          <a:blip r:embed="rId5"/>
          <a:srcRect l="0" r="0" t="0" b="0"/>
          <a:stretch/>
        </p:blipFill>
        <p:spPr>
          <a:xfrm>
            <a:off x="8255000" y="2667000"/>
            <a:ext cx="736600" cy="596900"/>
          </a:xfrm>
          <a:prstGeom prst="rect">
            <a:avLst/>
          </a:prstGeom>
        </p:spPr>
      </p:pic>
      <p:sp>
        <p:nvSpPr>
          <p:cNvPr id="15" name="Text 8"/>
          <p:cNvSpPr/>
          <p:nvPr/>
        </p:nvSpPr>
        <p:spPr>
          <a:xfrm>
            <a:off x="812800" y="3733800"/>
            <a:ext cx="728795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Migration approach</a:t>
            </a:r>
            <a:endParaRPr lang="en-US" sz="1400" dirty="0"/>
          </a:p>
        </p:txBody>
      </p:sp>
      <p:sp>
        <p:nvSpPr>
          <p:cNvPr id="16" name="Text 9"/>
          <p:cNvSpPr/>
          <p:nvPr/>
        </p:nvSpPr>
        <p:spPr>
          <a:xfrm>
            <a:off x="911606" y="4023320"/>
            <a:ext cx="7181531"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Map each ADO self-hosted pool and its workloads to a GitHub runner group</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Build runner images with the tools and versions the pipelines need</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Validate networking, identity, scaling, logging and prod/non-prod separation</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Rehearse infra build, plan, approval and deploy workflows on new runners</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Retire an ADO agent only after its workloads migrate and pass validation</a:t>
            </a:r>
            <a:endParaRPr lang="en-US" sz="1200" dirty="0"/>
          </a:p>
        </p:txBody>
      </p:sp>
      <p:sp>
        <p:nvSpPr>
          <p:cNvPr id="17" name="Shape 10"/>
          <p:cNvSpPr/>
          <p:nvPr/>
        </p:nvSpPr>
        <p:spPr>
          <a:xfrm>
            <a:off x="8193286" y="3733800"/>
            <a:ext cx="3185914" cy="1447602"/>
          </a:xfrm>
          <a:prstGeom prst="roundRect">
            <a:avLst>
              <a:gd name="adj" fmla="val 5264"/>
            </a:avLst>
          </a:prstGeom>
          <a:solidFill>
            <a:srgbClr val="ECE8DD"/>
          </a:solidFill>
          <a:ln/>
        </p:spPr>
      </p:sp>
      <p:sp>
        <p:nvSpPr>
          <p:cNvPr id="18" name="Text 11"/>
          <p:cNvSpPr/>
          <p:nvPr/>
        </p:nvSpPr>
        <p:spPr>
          <a:xfrm>
            <a:off x="8371086" y="3886200"/>
            <a:ext cx="29152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Remaining assessment</a:t>
            </a:r>
            <a:endParaRPr lang="en-US" sz="1400" dirty="0"/>
          </a:p>
        </p:txBody>
      </p:sp>
      <p:sp>
        <p:nvSpPr>
          <p:cNvPr id="19" name="Text 12"/>
          <p:cNvSpPr/>
          <p:nvPr/>
        </p:nvSpPr>
        <p:spPr>
          <a:xfrm>
            <a:off x="8371086" y="4175720"/>
            <a:ext cx="291522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Pipeline-to-pool mapping, runner sizing and detailed configuration. GitHub-hosted runners may be evaluated for workloads that do not need self-hosting.</a:t>
            </a:r>
            <a:endParaRPr lang="en-US" sz="1200" dirty="0"/>
          </a:p>
        </p:txBody>
      </p:sp>
      <p:sp>
        <p:nvSpPr>
          <p:cNvPr id="20"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SERVICE CONNECTIONS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From 103 service connections to OIDC</a:t>
            </a:r>
            <a:endParaRPr lang="en-US" sz="3200" dirty="0"/>
          </a:p>
        </p:txBody>
      </p:sp>
      <p:sp>
        <p:nvSpPr>
          <p:cNvPr id="4" name="Text 2"/>
          <p:cNvSpPr/>
          <p:nvPr/>
        </p:nvSpPr>
        <p:spPr>
          <a:xfrm>
            <a:off x="819150" y="1784288"/>
            <a:ext cx="2292350" cy="662914"/>
          </a:xfrm>
          <a:prstGeom prst="roundRect">
            <a:avLst>
              <a:gd name="adj" fmla="val 10537"/>
            </a:avLst>
          </a:prstGeom>
          <a:solidFill>
            <a:srgbClr val="FDFCF9"/>
          </a:solidFill>
          <a:ln w="12700">
            <a:solidFill>
              <a:srgbClr val="14213D"/>
            </a:solidFill>
            <a:prstDash val="solid"/>
          </a:ln>
        </p:spPr>
        <p:txBody>
          <a:bodyPr wrap="square" lIns="30183" tIns="112892" rIns="30183" bIns="87492"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Workflow job</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repo + environment</a:t>
            </a:r>
            <a:endParaRPr lang="en-US" sz="1200" dirty="0"/>
          </a:p>
        </p:txBody>
      </p:sp>
      <p:pic>
        <p:nvPicPr>
          <p:cNvPr id="5" name="Image 0" descr="arrow-right">    </p:cNvPr>
          <p:cNvPicPr>
            <a:picLocks noChangeAspect="1"/>
          </p:cNvPicPr>
          <p:nvPr/>
        </p:nvPicPr>
        <p:blipFill>
          <a:blip r:embed="rId1"/>
          <a:srcRect l="0" r="0" t="0" b="0"/>
          <a:stretch/>
        </p:blipFill>
        <p:spPr>
          <a:xfrm>
            <a:off x="3194050" y="2026841"/>
            <a:ext cx="304800" cy="177800"/>
          </a:xfrm>
          <a:prstGeom prst="rect">
            <a:avLst/>
          </a:prstGeom>
        </p:spPr>
      </p:pic>
      <p:sp>
        <p:nvSpPr>
          <p:cNvPr id="6" name="Text 3"/>
          <p:cNvSpPr/>
          <p:nvPr/>
        </p:nvSpPr>
        <p:spPr>
          <a:xfrm>
            <a:off x="3581400" y="1784288"/>
            <a:ext cx="2292350" cy="662914"/>
          </a:xfrm>
          <a:prstGeom prst="roundRect">
            <a:avLst>
              <a:gd name="adj" fmla="val 10537"/>
            </a:avLst>
          </a:prstGeom>
          <a:solidFill>
            <a:srgbClr val="FDFCF9"/>
          </a:solidFill>
          <a:ln w="12700">
            <a:solidFill>
              <a:srgbClr val="14213D"/>
            </a:solidFill>
            <a:prstDash val="solid"/>
          </a:ln>
        </p:spPr>
        <p:txBody>
          <a:bodyPr wrap="square" lIns="30183" tIns="112892" rIns="30183" bIns="87492"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GitHub OIDC token</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short-lived, per job</a:t>
            </a:r>
            <a:endParaRPr lang="en-US" sz="1200" dirty="0"/>
          </a:p>
        </p:txBody>
      </p:sp>
      <p:pic>
        <p:nvPicPr>
          <p:cNvPr id="7" name="Image 1" descr="arrow-right">    </p:cNvPr>
          <p:cNvPicPr>
            <a:picLocks noChangeAspect="1"/>
          </p:cNvPicPr>
          <p:nvPr/>
        </p:nvPicPr>
        <p:blipFill>
          <a:blip r:embed="rId2"/>
          <a:srcRect l="0" r="0" t="0" b="0"/>
          <a:stretch/>
        </p:blipFill>
        <p:spPr>
          <a:xfrm>
            <a:off x="5956300" y="2026841"/>
            <a:ext cx="304800" cy="177800"/>
          </a:xfrm>
          <a:prstGeom prst="rect">
            <a:avLst/>
          </a:prstGeom>
        </p:spPr>
      </p:pic>
      <p:sp>
        <p:nvSpPr>
          <p:cNvPr id="8" name="Text 4"/>
          <p:cNvSpPr/>
          <p:nvPr/>
        </p:nvSpPr>
        <p:spPr>
          <a:xfrm>
            <a:off x="6343650" y="1784288"/>
            <a:ext cx="2292350" cy="662914"/>
          </a:xfrm>
          <a:prstGeom prst="roundRect">
            <a:avLst>
              <a:gd name="adj" fmla="val 10537"/>
            </a:avLst>
          </a:prstGeom>
          <a:solidFill>
            <a:srgbClr val="FDFCF9"/>
          </a:solidFill>
          <a:ln w="12700">
            <a:solidFill>
              <a:srgbClr val="14213D"/>
            </a:solidFill>
            <a:prstDash val="solid"/>
          </a:ln>
        </p:spPr>
        <p:txBody>
          <a:bodyPr wrap="square" lIns="30183" tIns="112892" rIns="30183" bIns="87492" rtlCol="0" anchor="t">
            <a:normAutofit/>
          </a:bodyPr>
          <a:lstStyle/>
          <a:p>
            <a:pPr algn="ctr"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Entra ID federated credential</a:t>
            </a:r>
            <a:endParaRPr lang="en-US" sz="1200" dirty="0"/>
          </a:p>
          <a:p>
            <a:pPr algn="ctr"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trusts that repo + env only</a:t>
            </a:r>
            <a:endParaRPr lang="en-US" sz="1200" dirty="0"/>
          </a:p>
        </p:txBody>
      </p:sp>
      <p:pic>
        <p:nvPicPr>
          <p:cNvPr id="9" name="Image 2" descr="arrow-right">    </p:cNvPr>
          <p:cNvPicPr>
            <a:picLocks noChangeAspect="1"/>
          </p:cNvPicPr>
          <p:nvPr/>
        </p:nvPicPr>
        <p:blipFill>
          <a:blip r:embed="rId3"/>
          <a:srcRect l="0" r="0" t="0" b="0"/>
          <a:stretch/>
        </p:blipFill>
        <p:spPr>
          <a:xfrm>
            <a:off x="8718550" y="2026841"/>
            <a:ext cx="304800" cy="177800"/>
          </a:xfrm>
          <a:prstGeom prst="rect">
            <a:avLst/>
          </a:prstGeom>
        </p:spPr>
      </p:pic>
      <p:sp>
        <p:nvSpPr>
          <p:cNvPr id="10" name="Text 5"/>
          <p:cNvSpPr/>
          <p:nvPr/>
        </p:nvSpPr>
        <p:spPr>
          <a:xfrm>
            <a:off x="9099550" y="1790638"/>
            <a:ext cx="2279650" cy="650214"/>
          </a:xfrm>
          <a:prstGeom prst="roundRect">
            <a:avLst>
              <a:gd name="adj" fmla="val 11719"/>
            </a:avLst>
          </a:prstGeom>
          <a:solidFill>
            <a:srgbClr val="14213D"/>
          </a:solidFill>
          <a:ln/>
        </p:spPr>
        <p:txBody>
          <a:bodyPr wrap="square" lIns="21973" tIns="104682" rIns="21973" bIns="79282" rtlCol="0" anchor="t">
            <a:normAutofit/>
          </a:bodyPr>
          <a:lstStyle/>
          <a:p>
            <a:pPr algn="ctr" indent="0" marL="0">
              <a:lnSpc>
                <a:spcPts val="1560"/>
              </a:lnSpc>
              <a:buNone/>
            </a:pPr>
            <a:r>
              <a:rPr lang="en-US" sz="1200" b="1" dirty="0">
                <a:solidFill>
                  <a:srgbClr val="F6F4EE"/>
                </a:solidFill>
                <a:latin typeface="IBM Plex Sans" pitchFamily="34" charset="0"/>
                <a:ea typeface="IBM Plex Sans" pitchFamily="34" charset="-122"/>
                <a:cs typeface="IBM Plex Sans" pitchFamily="34" charset="-120"/>
              </a:rPr>
              <a:t>Azure RBAC</a:t>
            </a:r>
            <a:endParaRPr lang="en-US" sz="1200" dirty="0"/>
          </a:p>
          <a:p>
            <a:pPr algn="ctr" indent="0" marL="0">
              <a:lnSpc>
                <a:spcPts val="1560"/>
              </a:lnSpc>
              <a:buNone/>
            </a:pPr>
            <a:r>
              <a:rPr lang="en-US" sz="1200" dirty="0">
                <a:solidFill>
                  <a:srgbClr val="F6F4EE"/>
                </a:solidFill>
                <a:latin typeface="IBM Plex Sans" pitchFamily="34" charset="0"/>
                <a:ea typeface="IBM Plex Sans" pitchFamily="34" charset="-122"/>
                <a:cs typeface="IBM Plex Sans" pitchFamily="34" charset="-120"/>
              </a:rPr>
              <a:t>least privilege per scope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669449"/>
          <a:ext cx="10553700" cy="1995884"/>
        </p:xfrm>
        <a:graphic>
          <a:graphicData uri="http://schemas.openxmlformats.org/drawingml/2006/table">
            <a:tbl>
              <a:tblPr/>
              <a:tblGrid>
                <a:gridCol w="3166110"/>
                <a:gridCol w="7387590"/>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in 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on GitHub (proposed)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Azure Resource Manager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OIDC federated credential per repo and environment; no stored secret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identity shared across stages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Separate NonProd and Prod identities; Prod usable only from the Prod 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Non-Azure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Environment-scoped secrets, or Key Vault read at runtime by the runner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Connection security and approvals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 protection rules gate which jobs can use the 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Duplicate or unused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Consolidate during inventory; retire and revoke after cutover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12" name="Text 6"/>
          <p:cNvSpPr/>
          <p:nvPr/>
        </p:nvSpPr>
        <p:spPr>
          <a:xfrm>
            <a:off x="812800" y="486853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Ownership:</a:t>
            </a:r>
            <a:r>
              <a:rPr lang="en-US" sz="1200" dirty="0">
                <a:solidFill>
                  <a:srgbClr val="4A5568"/>
                </a:solidFill>
                <a:latin typeface="IBM Plex Sans" pitchFamily="34" charset="0"/>
                <a:ea typeface="IBM Plex Sans" pitchFamily="34" charset="-122"/>
                <a:cs typeface="IBM Plex Sans" pitchFamily="34" charset="-120"/>
              </a:rPr>
              <a:t> the cloud/platform team creates identities and Azure role assignments; repo admins configure environments; security reviews Prod scopes. Owners to be confirmed.</a:t>
            </a:r>
            <a:endParaRPr lang="en-US" sz="1200" dirty="0"/>
          </a:p>
        </p:txBody>
      </p:sp>
      <p:sp>
        <p:nvSpPr>
          <p:cNvPr id="13"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ACCESS CONTROL</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RBAC: Entra ID groups drive GitHub teams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328532"/>
        </p:xfrm>
        <a:graphic>
          <a:graphicData uri="http://schemas.openxmlformats.org/drawingml/2006/table">
            <a:tbl>
              <a:tblPr/>
              <a:tblGrid>
                <a:gridCol w="2532888"/>
                <a:gridCol w="2532888"/>
                <a:gridCol w="1688592"/>
                <a:gridCol w="3799332"/>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Persona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GitHub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Repo 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Can 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Org owners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Enterprise 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Org settings, runner groups, policies (2–3 people)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Platform 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adh-platform-admins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Repo settings, rulesets,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Platform engineers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adh-platform-eng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Maintain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Merge via PR, manage issues and releases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adh-developers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Write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Branch, open PRs, run NonProd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Release approvers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adh-prod-approvers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Approve Prod deployments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Auditors, support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adh-readers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Read / Triage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View code, runs and audit trail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5" name="Text 2"/>
          <p:cNvSpPr/>
          <p:nvPr/>
        </p:nvSpPr>
        <p:spPr>
          <a:xfrm>
            <a:off x="819150" y="4328716"/>
            <a:ext cx="5207000" cy="693341"/>
          </a:xfrm>
          <a:prstGeom prst="roundRect">
            <a:avLst>
              <a:gd name="adj" fmla="val 10074"/>
            </a:avLst>
          </a:prstGeom>
          <a:solidFill>
            <a:srgbClr val="FDFCF9"/>
          </a:solidFill>
          <a:ln w="12700">
            <a:solidFill>
              <a:srgbClr val="E2DED3"/>
            </a:solidFill>
            <a:prstDash val="solid"/>
          </a:ln>
        </p:spPr>
        <p:txBody>
          <a:bodyPr wrap="square" lIns="138292" tIns="112892" rIns="0" bIns="87492"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As-is:</a:t>
            </a:r>
            <a:r>
              <a:rPr lang="en-US" sz="1200" dirty="0">
                <a:solidFill>
                  <a:srgbClr val="14213D"/>
                </a:solidFill>
                <a:latin typeface="IBM Plex Sans" pitchFamily="34" charset="0"/>
                <a:ea typeface="IBM Plex Sans" pitchFamily="34" charset="-122"/>
                <a:cs typeface="IBM Plex Sans" pitchFamily="34" charset="-120"/>
              </a:rPr>
              <a:t> ADO project groups with separate repo, pipeline, connection and environment permissions.</a:t>
            </a:r>
            <a:endParaRPr lang="en-US" sz="1200" dirty="0"/>
          </a:p>
        </p:txBody>
      </p:sp>
      <p:sp>
        <p:nvSpPr>
          <p:cNvPr id="6" name="Text 3"/>
          <p:cNvSpPr/>
          <p:nvPr/>
        </p:nvSpPr>
        <p:spPr>
          <a:xfrm>
            <a:off x="6184900" y="4322366"/>
            <a:ext cx="5194300" cy="706041"/>
          </a:xfrm>
          <a:prstGeom prst="roundRect">
            <a:avLst>
              <a:gd name="adj" fmla="val 10793"/>
            </a:avLst>
          </a:prstGeom>
          <a:solidFill>
            <a:srgbClr val="14213D"/>
          </a:solidFill>
          <a:ln/>
        </p:spPr>
        <p:txBody>
          <a:bodyPr wrap="square" lIns="130082" tIns="104682" rIns="0" bIns="79282"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a:t>
            </a:r>
            <a:r>
              <a:rPr lang="en-US" sz="1200" dirty="0">
                <a:solidFill>
                  <a:srgbClr val="F6F4EE"/>
                </a:solidFill>
                <a:latin typeface="IBM Plex Sans" pitchFamily="34" charset="0"/>
                <a:ea typeface="IBM Plex Sans" pitchFamily="34" charset="-122"/>
                <a:cs typeface="IBM Plex Sans" pitchFamily="34" charset="-120"/>
              </a:rPr>
              <a:t> SSO with Entra ID group sync, no direct user grants, quarterly access review.</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Team names are illustrative · ADO to GitHub migration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AS-IS → TO-BE · APPROVAL GATES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Every path to Prod passes two gates</a:t>
            </a:r>
            <a:endParaRPr lang="en-US" sz="3200" dirty="0"/>
          </a:p>
        </p:txBody>
      </p:sp>
      <p:sp>
        <p:nvSpPr>
          <p:cNvPr id="4" name="Shape 2"/>
          <p:cNvSpPr/>
          <p:nvPr/>
        </p:nvSpPr>
        <p:spPr>
          <a:xfrm>
            <a:off x="819150" y="1870608"/>
            <a:ext cx="1811007" cy="716227"/>
          </a:xfrm>
          <a:prstGeom prst="roundRect">
            <a:avLst>
              <a:gd name="adj" fmla="val 9752"/>
            </a:avLst>
          </a:prstGeom>
          <a:solidFill>
            <a:srgbClr val="FDFCF9"/>
          </a:solidFill>
          <a:ln w="12700">
            <a:solidFill>
              <a:srgbClr val="E2DED3"/>
            </a:solidFill>
            <a:prstDash val="solid"/>
          </a:ln>
        </p:spPr>
      </p:sp>
      <p:sp>
        <p:nvSpPr>
          <p:cNvPr id="5" name="Text 3"/>
          <p:cNvSpPr/>
          <p:nvPr/>
        </p:nvSpPr>
        <p:spPr>
          <a:xfrm>
            <a:off x="952500"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Pull request</a:t>
            </a:r>
            <a:endParaRPr lang="en-US" sz="1200" dirty="0"/>
          </a:p>
        </p:txBody>
      </p:sp>
      <p:sp>
        <p:nvSpPr>
          <p:cNvPr id="6" name="Text 4"/>
          <p:cNvSpPr/>
          <p:nvPr/>
        </p:nvSpPr>
        <p:spPr>
          <a:xfrm>
            <a:off x="952500"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fmt, validate, plan</a:t>
            </a:r>
            <a:endParaRPr lang="en-US" sz="1200" dirty="0"/>
          </a:p>
        </p:txBody>
      </p:sp>
      <p:pic>
        <p:nvPicPr>
          <p:cNvPr id="7" name="Image 0" descr="arrow-right">    </p:cNvPr>
          <p:cNvPicPr>
            <a:picLocks noChangeAspect="1"/>
          </p:cNvPicPr>
          <p:nvPr/>
        </p:nvPicPr>
        <p:blipFill>
          <a:blip r:embed="rId1"/>
          <a:srcRect l="0" r="0" t="0" b="0"/>
          <a:stretch/>
        </p:blipFill>
        <p:spPr>
          <a:xfrm>
            <a:off x="2700007" y="2152520"/>
            <a:ext cx="254000" cy="152400"/>
          </a:xfrm>
          <a:prstGeom prst="rect">
            <a:avLst/>
          </a:prstGeom>
        </p:spPr>
      </p:pic>
      <p:sp>
        <p:nvSpPr>
          <p:cNvPr id="8" name="Shape 5"/>
          <p:cNvSpPr/>
          <p:nvPr/>
        </p:nvSpPr>
        <p:spPr>
          <a:xfrm>
            <a:off x="3017507" y="1777938"/>
            <a:ext cx="1798373" cy="901634"/>
          </a:xfrm>
          <a:prstGeom prst="roundRect">
            <a:avLst>
              <a:gd name="adj" fmla="val 8451"/>
            </a:avLst>
          </a:prstGeom>
          <a:solidFill>
            <a:srgbClr val="F9E3D3"/>
          </a:solidFill>
          <a:ln/>
        </p:spPr>
      </p:sp>
      <p:sp>
        <p:nvSpPr>
          <p:cNvPr id="9" name="Text 6"/>
          <p:cNvSpPr/>
          <p:nvPr/>
        </p:nvSpPr>
        <p:spPr>
          <a:xfrm>
            <a:off x="3144507" y="1904938"/>
            <a:ext cx="15951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 1: review</a:t>
            </a:r>
            <a:endParaRPr lang="en-US" sz="1200" dirty="0"/>
          </a:p>
        </p:txBody>
      </p:sp>
      <p:sp>
        <p:nvSpPr>
          <p:cNvPr id="10" name="Text 7"/>
          <p:cNvSpPr/>
          <p:nvPr/>
        </p:nvSpPr>
        <p:spPr>
          <a:xfrm>
            <a:off x="3144507" y="2156358"/>
            <a:ext cx="159517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CODEOWNERS approve</a:t>
            </a:r>
            <a:endParaRPr lang="en-US" sz="1200" dirty="0"/>
          </a:p>
        </p:txBody>
      </p:sp>
      <p:pic>
        <p:nvPicPr>
          <p:cNvPr id="11" name="Image 1" descr="arrow-right">    </p:cNvPr>
          <p:cNvPicPr>
            <a:picLocks noChangeAspect="1"/>
          </p:cNvPicPr>
          <p:nvPr/>
        </p:nvPicPr>
        <p:blipFill>
          <a:blip r:embed="rId2"/>
          <a:srcRect l="0" r="0" t="0" b="0"/>
          <a:stretch/>
        </p:blipFill>
        <p:spPr>
          <a:xfrm>
            <a:off x="4879380" y="2152520"/>
            <a:ext cx="254000" cy="152400"/>
          </a:xfrm>
          <a:prstGeom prst="rect">
            <a:avLst/>
          </a:prstGeom>
        </p:spPr>
      </p:pic>
      <p:sp>
        <p:nvSpPr>
          <p:cNvPr id="12" name="Shape 8"/>
          <p:cNvSpPr/>
          <p:nvPr/>
        </p:nvSpPr>
        <p:spPr>
          <a:xfrm>
            <a:off x="5203230" y="1870608"/>
            <a:ext cx="1811007" cy="716227"/>
          </a:xfrm>
          <a:prstGeom prst="roundRect">
            <a:avLst>
              <a:gd name="adj" fmla="val 9752"/>
            </a:avLst>
          </a:prstGeom>
          <a:solidFill>
            <a:srgbClr val="FDFCF9"/>
          </a:solidFill>
          <a:ln w="12700">
            <a:solidFill>
              <a:srgbClr val="E2DED3"/>
            </a:solidFill>
            <a:prstDash val="solid"/>
          </a:ln>
        </p:spPr>
      </p:sp>
      <p:sp>
        <p:nvSpPr>
          <p:cNvPr id="13" name="Text 9"/>
          <p:cNvSpPr/>
          <p:nvPr/>
        </p:nvSpPr>
        <p:spPr>
          <a:xfrm>
            <a:off x="5336580"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NonProd</a:t>
            </a:r>
            <a:endParaRPr lang="en-US" sz="1200" dirty="0"/>
          </a:p>
        </p:txBody>
      </p:sp>
      <p:sp>
        <p:nvSpPr>
          <p:cNvPr id="14" name="Text 10"/>
          <p:cNvSpPr/>
          <p:nvPr/>
        </p:nvSpPr>
        <p:spPr>
          <a:xfrm>
            <a:off x="5336580"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deploys on merge</a:t>
            </a:r>
            <a:endParaRPr lang="en-US" sz="1200" dirty="0"/>
          </a:p>
        </p:txBody>
      </p:sp>
      <p:pic>
        <p:nvPicPr>
          <p:cNvPr id="15" name="Image 2" descr="arrow-right">    </p:cNvPr>
          <p:cNvPicPr>
            <a:picLocks noChangeAspect="1"/>
          </p:cNvPicPr>
          <p:nvPr/>
        </p:nvPicPr>
        <p:blipFill>
          <a:blip r:embed="rId3"/>
          <a:srcRect l="0" r="0" t="0" b="0"/>
          <a:stretch/>
        </p:blipFill>
        <p:spPr>
          <a:xfrm>
            <a:off x="7084087" y="2152520"/>
            <a:ext cx="254000" cy="152400"/>
          </a:xfrm>
          <a:prstGeom prst="rect">
            <a:avLst/>
          </a:prstGeom>
        </p:spPr>
      </p:pic>
      <p:sp>
        <p:nvSpPr>
          <p:cNvPr id="16" name="Shape 11"/>
          <p:cNvSpPr/>
          <p:nvPr/>
        </p:nvSpPr>
        <p:spPr>
          <a:xfrm>
            <a:off x="7401587" y="1876958"/>
            <a:ext cx="1798307" cy="703527"/>
          </a:xfrm>
          <a:prstGeom prst="roundRect">
            <a:avLst>
              <a:gd name="adj" fmla="val 10831"/>
            </a:avLst>
          </a:prstGeom>
          <a:solidFill>
            <a:srgbClr val="F9E3D3"/>
          </a:solidFill>
          <a:ln/>
        </p:spPr>
      </p:sp>
      <p:sp>
        <p:nvSpPr>
          <p:cNvPr id="17" name="Text 12"/>
          <p:cNvSpPr/>
          <p:nvPr/>
        </p:nvSpPr>
        <p:spPr>
          <a:xfrm>
            <a:off x="7528587"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Gate 2: Prod</a:t>
            </a:r>
            <a:endParaRPr lang="en-US" sz="1200" dirty="0"/>
          </a:p>
        </p:txBody>
      </p:sp>
      <p:sp>
        <p:nvSpPr>
          <p:cNvPr id="18" name="Text 13"/>
          <p:cNvSpPr/>
          <p:nvPr/>
        </p:nvSpPr>
        <p:spPr>
          <a:xfrm>
            <a:off x="7528587"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approvers sign off</a:t>
            </a:r>
            <a:endParaRPr lang="en-US" sz="1200" dirty="0"/>
          </a:p>
        </p:txBody>
      </p:sp>
      <p:pic>
        <p:nvPicPr>
          <p:cNvPr id="19" name="Image 3" descr="arrow-right">    </p:cNvPr>
          <p:cNvPicPr>
            <a:picLocks noChangeAspect="1"/>
          </p:cNvPicPr>
          <p:nvPr/>
        </p:nvPicPr>
        <p:blipFill>
          <a:blip r:embed="rId4"/>
          <a:srcRect l="0" r="0" t="0" b="0"/>
          <a:stretch/>
        </p:blipFill>
        <p:spPr>
          <a:xfrm>
            <a:off x="9263393" y="2152520"/>
            <a:ext cx="254000" cy="152400"/>
          </a:xfrm>
          <a:prstGeom prst="rect">
            <a:avLst/>
          </a:prstGeom>
        </p:spPr>
      </p:pic>
      <p:sp>
        <p:nvSpPr>
          <p:cNvPr id="20" name="Shape 14"/>
          <p:cNvSpPr/>
          <p:nvPr/>
        </p:nvSpPr>
        <p:spPr>
          <a:xfrm>
            <a:off x="9580893" y="1876958"/>
            <a:ext cx="1798307" cy="703527"/>
          </a:xfrm>
          <a:prstGeom prst="roundRect">
            <a:avLst>
              <a:gd name="adj" fmla="val 10831"/>
            </a:avLst>
          </a:prstGeom>
          <a:solidFill>
            <a:srgbClr val="14213D"/>
          </a:solidFill>
          <a:ln/>
        </p:spPr>
      </p:sp>
      <p:sp>
        <p:nvSpPr>
          <p:cNvPr id="21" name="Text 15"/>
          <p:cNvSpPr/>
          <p:nvPr/>
        </p:nvSpPr>
        <p:spPr>
          <a:xfrm>
            <a:off x="9707893" y="2003958"/>
            <a:ext cx="15951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Prod apply</a:t>
            </a:r>
            <a:endParaRPr lang="en-US" sz="1200" dirty="0"/>
          </a:p>
        </p:txBody>
      </p:sp>
      <p:sp>
        <p:nvSpPr>
          <p:cNvPr id="22" name="Text 16"/>
          <p:cNvSpPr/>
          <p:nvPr/>
        </p:nvSpPr>
        <p:spPr>
          <a:xfrm>
            <a:off x="9707893" y="2255379"/>
            <a:ext cx="15951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C8D8"/>
                </a:solidFill>
                <a:latin typeface="IBM Plex Sans" pitchFamily="34" charset="0"/>
                <a:ea typeface="IBM Plex Sans" pitchFamily="34" charset="-122"/>
                <a:cs typeface="IBM Plex Sans" pitchFamily="34" charset="-120"/>
              </a:rPr>
              <a:t>audited run</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5500" y="2895470"/>
          <a:ext cx="10553700" cy="1663237"/>
        </p:xfrm>
        <a:graphic>
          <a:graphicData uri="http://schemas.openxmlformats.org/drawingml/2006/table">
            <a:tbl>
              <a:tblPr/>
              <a:tblGrid>
                <a:gridCol w="3799332"/>
                <a:gridCol w="6754368"/>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As-is ADO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To-be GitHub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Branch policy, required reviewers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Ruleset on main: PR required, CODEOWNERS approval, status 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Classic pre-deployment approvals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 required reviewers; self-approval blocked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Environment checks and gates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Wait timer, deployment branch policy, custom protection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Approval history in 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Deployment history and audit log on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bl>
          </a:graphicData>
        </a:graphic>
      </p:graphicFrame>
      <p:sp>
        <p:nvSpPr>
          <p:cNvPr id="24" name="Text 17"/>
          <p:cNvSpPr/>
          <p:nvPr/>
        </p:nvSpPr>
        <p:spPr>
          <a:xfrm>
            <a:off x="812800" y="476190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GitHub Environments do not copy every ADO check automatically. Each required control is mapped and tested individually.</a:t>
            </a:r>
            <a:endParaRPr lang="en-US" sz="1200" dirty="0"/>
          </a:p>
        </p:txBody>
      </p:sp>
      <p:sp>
        <p:nvSpPr>
          <p:cNvPr id="25"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TO-BE · REPOSITORY GOVERNANCE</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How repositories will be maintained</a:t>
            </a:r>
            <a:endParaRPr lang="en-US" sz="3200" dirty="0"/>
          </a:p>
        </p:txBody>
      </p:sp>
      <p:sp>
        <p:nvSpPr>
          <p:cNvPr id="4" name="Shape 2"/>
          <p:cNvSpPr/>
          <p:nvPr/>
        </p:nvSpPr>
        <p:spPr>
          <a:xfrm>
            <a:off x="819150" y="1809688"/>
            <a:ext cx="3407833" cy="1511102"/>
          </a:xfrm>
          <a:prstGeom prst="roundRect">
            <a:avLst>
              <a:gd name="adj" fmla="val 6303"/>
            </a:avLst>
          </a:prstGeom>
          <a:solidFill>
            <a:srgbClr val="FDFCF9"/>
          </a:solidFill>
          <a:ln w="12700">
            <a:solidFill>
              <a:srgbClr val="E2DED3"/>
            </a:solidFill>
            <a:prstDash val="solid"/>
          </a:ln>
        </p:spPr>
      </p:sp>
      <p:sp>
        <p:nvSpPr>
          <p:cNvPr id="5" name="Text 3"/>
          <p:cNvSpPr/>
          <p:nvPr/>
        </p:nvSpPr>
        <p:spPr>
          <a:xfrm>
            <a:off x="1003300" y="1993838"/>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Structure</a:t>
            </a:r>
            <a:endParaRPr lang="en-US" sz="1400" dirty="0"/>
          </a:p>
        </p:txBody>
      </p:sp>
      <p:sp>
        <p:nvSpPr>
          <p:cNvPr id="6" name="Text 4"/>
          <p:cNvSpPr/>
          <p:nvPr/>
        </p:nvSpPr>
        <p:spPr>
          <a:xfrm>
            <a:off x="1102106" y="2283358"/>
            <a:ext cx="3024293"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One repo per retained ADO repo</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Repos created by platform admins only</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Standard README, CODEOWNERS, .github</a:t>
            </a:r>
            <a:endParaRPr lang="en-US" sz="1200" dirty="0"/>
          </a:p>
        </p:txBody>
      </p:sp>
      <p:sp>
        <p:nvSpPr>
          <p:cNvPr id="7" name="Shape 5"/>
          <p:cNvSpPr/>
          <p:nvPr/>
        </p:nvSpPr>
        <p:spPr>
          <a:xfrm>
            <a:off x="4392083" y="1809688"/>
            <a:ext cx="3407833" cy="1511102"/>
          </a:xfrm>
          <a:prstGeom prst="roundRect">
            <a:avLst>
              <a:gd name="adj" fmla="val 6303"/>
            </a:avLst>
          </a:prstGeom>
          <a:solidFill>
            <a:srgbClr val="FDFCF9"/>
          </a:solidFill>
          <a:ln w="12700">
            <a:solidFill>
              <a:srgbClr val="E2DED3"/>
            </a:solidFill>
            <a:prstDash val="solid"/>
          </a:ln>
        </p:spPr>
      </p:sp>
      <p:sp>
        <p:nvSpPr>
          <p:cNvPr id="8" name="Text 6"/>
          <p:cNvSpPr/>
          <p:nvPr/>
        </p:nvSpPr>
        <p:spPr>
          <a:xfrm>
            <a:off x="4576233" y="1993838"/>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Branch protection</a:t>
            </a:r>
            <a:endParaRPr lang="en-US" sz="1400" dirty="0"/>
          </a:p>
        </p:txBody>
      </p:sp>
      <p:sp>
        <p:nvSpPr>
          <p:cNvPr id="9" name="Text 7"/>
          <p:cNvSpPr/>
          <p:nvPr/>
        </p:nvSpPr>
        <p:spPr>
          <a:xfrm>
            <a:off x="4675039" y="2283358"/>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Org ruleset on main for all repos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PR, review and passing checks required</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No force push or branch deletion</a:t>
            </a:r>
            <a:endParaRPr lang="en-US" sz="1200" dirty="0"/>
          </a:p>
        </p:txBody>
      </p:sp>
      <p:sp>
        <p:nvSpPr>
          <p:cNvPr id="10" name="Shape 8"/>
          <p:cNvSpPr/>
          <p:nvPr/>
        </p:nvSpPr>
        <p:spPr>
          <a:xfrm>
            <a:off x="7965017" y="1809688"/>
            <a:ext cx="3407833" cy="1511102"/>
          </a:xfrm>
          <a:prstGeom prst="roundRect">
            <a:avLst>
              <a:gd name="adj" fmla="val 6303"/>
            </a:avLst>
          </a:prstGeom>
          <a:solidFill>
            <a:srgbClr val="FDFCF9"/>
          </a:solidFill>
          <a:ln w="12700">
            <a:solidFill>
              <a:srgbClr val="E2DED3"/>
            </a:solidFill>
            <a:prstDash val="solid"/>
          </a:ln>
        </p:spPr>
      </p:sp>
      <p:sp>
        <p:nvSpPr>
          <p:cNvPr id="11" name="Text 9"/>
          <p:cNvSpPr/>
          <p:nvPr/>
        </p:nvSpPr>
        <p:spPr>
          <a:xfrm>
            <a:off x="8149167" y="1993838"/>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Shared workflows</a:t>
            </a:r>
            <a:endParaRPr lang="en-US" sz="1400" dirty="0"/>
          </a:p>
        </p:txBody>
      </p:sp>
      <p:sp>
        <p:nvSpPr>
          <p:cNvPr id="12" name="Text 10"/>
          <p:cNvSpPr/>
          <p:nvPr/>
        </p:nvSpPr>
        <p:spPr>
          <a:xfrm>
            <a:off x="8247973" y="2283358"/>
            <a:ext cx="3024293" cy="87868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Reusable workflows in Platform repo, if approved</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Versioned by tag; callers pin a version</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Changes reviewed by platform team</a:t>
            </a:r>
            <a:endParaRPr lang="en-US" sz="1200" dirty="0"/>
          </a:p>
        </p:txBody>
      </p:sp>
      <p:sp>
        <p:nvSpPr>
          <p:cNvPr id="13" name="Shape 11"/>
          <p:cNvSpPr/>
          <p:nvPr/>
        </p:nvSpPr>
        <p:spPr>
          <a:xfrm>
            <a:off x="819150" y="3485890"/>
            <a:ext cx="3407833" cy="1297781"/>
          </a:xfrm>
          <a:prstGeom prst="roundRect">
            <a:avLst>
              <a:gd name="adj" fmla="val 7339"/>
            </a:avLst>
          </a:prstGeom>
          <a:solidFill>
            <a:srgbClr val="FDFCF9"/>
          </a:solidFill>
          <a:ln w="12700">
            <a:solidFill>
              <a:srgbClr val="E2DED3"/>
            </a:solidFill>
            <a:prstDash val="solid"/>
          </a:ln>
        </p:spPr>
      </p:sp>
      <p:sp>
        <p:nvSpPr>
          <p:cNvPr id="14" name="Text 12"/>
          <p:cNvSpPr/>
          <p:nvPr/>
        </p:nvSpPr>
        <p:spPr>
          <a:xfrm>
            <a:off x="1003300" y="3670040"/>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Security</a:t>
            </a:r>
            <a:endParaRPr lang="en-US" sz="1400" dirty="0"/>
          </a:p>
        </p:txBody>
      </p:sp>
      <p:sp>
        <p:nvSpPr>
          <p:cNvPr id="15" name="Text 13"/>
          <p:cNvSpPr/>
          <p:nvPr/>
        </p:nvSpPr>
        <p:spPr>
          <a:xfrm>
            <a:off x="1102106" y="3959560"/>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Secret scanning with push protection</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Dependabot for providers and actions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Actions limited to an allow-list</a:t>
            </a:r>
            <a:endParaRPr lang="en-US" sz="1200" dirty="0"/>
          </a:p>
        </p:txBody>
      </p:sp>
      <p:sp>
        <p:nvSpPr>
          <p:cNvPr id="16" name="Shape 14"/>
          <p:cNvSpPr/>
          <p:nvPr/>
        </p:nvSpPr>
        <p:spPr>
          <a:xfrm>
            <a:off x="4392083" y="3485890"/>
            <a:ext cx="3407833" cy="1297781"/>
          </a:xfrm>
          <a:prstGeom prst="roundRect">
            <a:avLst>
              <a:gd name="adj" fmla="val 7339"/>
            </a:avLst>
          </a:prstGeom>
          <a:solidFill>
            <a:srgbClr val="FDFCF9"/>
          </a:solidFill>
          <a:ln w="12700">
            <a:solidFill>
              <a:srgbClr val="E2DED3"/>
            </a:solidFill>
            <a:prstDash val="solid"/>
          </a:ln>
        </p:spPr>
      </p:sp>
      <p:sp>
        <p:nvSpPr>
          <p:cNvPr id="17" name="Text 15"/>
          <p:cNvSpPr/>
          <p:nvPr/>
        </p:nvSpPr>
        <p:spPr>
          <a:xfrm>
            <a:off x="4576233" y="3670040"/>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Modules</a:t>
            </a:r>
            <a:endParaRPr lang="en-US" sz="1400" dirty="0"/>
          </a:p>
        </p:txBody>
      </p:sp>
      <p:sp>
        <p:nvSpPr>
          <p:cNvPr id="18" name="Text 16"/>
          <p:cNvSpPr/>
          <p:nvPr/>
        </p:nvSpPr>
        <p:spPr>
          <a:xfrm>
            <a:off x="4675039" y="3959560"/>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Keep Azure Artifacts feed at first</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Production publish controls unchanged</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Registry move decided separately</a:t>
            </a:r>
            <a:endParaRPr lang="en-US" sz="1200" dirty="0"/>
          </a:p>
        </p:txBody>
      </p:sp>
      <p:sp>
        <p:nvSpPr>
          <p:cNvPr id="19" name="Shape 17"/>
          <p:cNvSpPr/>
          <p:nvPr/>
        </p:nvSpPr>
        <p:spPr>
          <a:xfrm>
            <a:off x="7965017" y="3485890"/>
            <a:ext cx="3407833" cy="1297781"/>
          </a:xfrm>
          <a:prstGeom prst="roundRect">
            <a:avLst>
              <a:gd name="adj" fmla="val 7339"/>
            </a:avLst>
          </a:prstGeom>
          <a:solidFill>
            <a:srgbClr val="FDFCF9"/>
          </a:solidFill>
          <a:ln w="12700">
            <a:solidFill>
              <a:srgbClr val="E2DED3"/>
            </a:solidFill>
            <a:prstDash val="solid"/>
          </a:ln>
        </p:spPr>
      </p:sp>
      <p:sp>
        <p:nvSpPr>
          <p:cNvPr id="20" name="Text 18"/>
          <p:cNvSpPr/>
          <p:nvPr/>
        </p:nvSpPr>
        <p:spPr>
          <a:xfrm>
            <a:off x="8149167" y="3670040"/>
            <a:ext cx="313071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8481B"/>
                </a:solidFill>
                <a:latin typeface="IBM Plex Sans" pitchFamily="34" charset="0"/>
                <a:ea typeface="IBM Plex Sans" pitchFamily="34" charset="-122"/>
                <a:cs typeface="IBM Plex Sans" pitchFamily="34" charset="-120"/>
              </a:rPr>
              <a:t>Lifecycle</a:t>
            </a:r>
            <a:endParaRPr lang="en-US" sz="1400" dirty="0"/>
          </a:p>
        </p:txBody>
      </p:sp>
      <p:sp>
        <p:nvSpPr>
          <p:cNvPr id="21" name="Text 19"/>
          <p:cNvSpPr/>
          <p:nvPr/>
        </p:nvSpPr>
        <p:spPr>
          <a:xfrm>
            <a:off x="8247973" y="3959560"/>
            <a:ext cx="3024293" cy="665361"/>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ADO repos set read-only after cutover</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Archived once rollback period ends</a:t>
            </a:r>
            <a:endParaRPr lang="en-US" sz="1200" dirty="0"/>
          </a:p>
          <a:p>
            <a:pPr algn="l" marL="155194" indent="-155194">
              <a:lnSpc>
                <a:spcPts val="1680"/>
              </a:lnSpc>
              <a:buSzPct val="100000"/>
              <a:buChar char="•"/>
            </a:pPr>
            <a:r>
              <a:rPr lang="en-US" sz="1200" dirty="0">
                <a:solidFill>
                  <a:srgbClr val="14213D"/>
                </a:solidFill>
                <a:latin typeface="IBM Plex Sans" pitchFamily="34" charset="0"/>
                <a:ea typeface="IBM Plex Sans" pitchFamily="34" charset="-122"/>
                <a:cs typeface="IBM Plex Sans" pitchFamily="34" charset="-120"/>
              </a:rPr>
              <a:t>Quarterly access and settings review</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Security features subject to GitHub licensing · ADO to GitHub migration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RISKS AND OPEN ASSESSMENT ITEMS</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What could slow us down, and the next step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3326474"/>
        </p:xfrm>
        <a:graphic>
          <a:graphicData uri="http://schemas.openxmlformats.org/drawingml/2006/table">
            <a:tbl>
              <a:tblPr/>
              <a:tblGrid>
                <a:gridCol w="2955036"/>
                <a:gridCol w="7598664"/>
              </a:tblGrid>
              <a:tr h="332647">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Impact / next step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YAML 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Only 29 of 125 YAML files retrieved in the first pass; investigate the other 96 and templates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Container Apps 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Confirm implementation, pipeline mapping, tools, networking and capacity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Artifacts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Package listing unavailable for ADH-IAC-MODULES; verify formats and consumers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Service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103 to classify; each Azure one needs a federated identity and role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GitHub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Confirm org, repo creation, runner-group and policy permissions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Importer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 and dry-run blocked by an unavailable Docker daemon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Approvals and 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Map classic release and YAML environment controls individually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Pull requests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Validate active PR cutover and historical PR migration needs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D"/>
                    </a:solidFill>
                  </a:tcPr>
                </a:tc>
              </a:tr>
              <a:tr h="332647">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Ownership and timeline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Confirm named owners, capacity and production change windows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81B"/>
                </a:solidFill>
                <a:latin typeface="JetBrains Mono" pitchFamily="49" charset="0"/>
                <a:ea typeface="JetBrains Mono" pitchFamily="49" charset="-122"/>
                <a:cs typeface="JetBrains Mono" pitchFamily="49" charset="-120"/>
              </a:rPr>
              <a:t>PLAN</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Six phases, each with an exit gate</a:t>
            </a:r>
            <a:endParaRPr lang="en-US" sz="3200" dirty="0"/>
          </a:p>
        </p:txBody>
      </p:sp>
      <p:sp>
        <p:nvSpPr>
          <p:cNvPr id="4" name="Shape 2"/>
          <p:cNvSpPr/>
          <p:nvPr/>
        </p:nvSpPr>
        <p:spPr>
          <a:xfrm>
            <a:off x="819150" y="1809688"/>
            <a:ext cx="3407833" cy="1363861"/>
          </a:xfrm>
          <a:prstGeom prst="roundRect">
            <a:avLst>
              <a:gd name="adj" fmla="val 5121"/>
            </a:avLst>
          </a:prstGeom>
          <a:solidFill>
            <a:srgbClr val="FDFCF9"/>
          </a:solidFill>
          <a:ln w="12700">
            <a:solidFill>
              <a:srgbClr val="E2DED3"/>
            </a:solidFill>
            <a:prstDash val="solid"/>
          </a:ln>
        </p:spPr>
      </p:sp>
      <p:sp>
        <p:nvSpPr>
          <p:cNvPr id="5" name="Text 3"/>
          <p:cNvSpPr/>
          <p:nvPr/>
        </p:nvSpPr>
        <p:spPr>
          <a:xfrm>
            <a:off x="1003300" y="1993838"/>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1 · Discovery</a:t>
            </a:r>
            <a:endParaRPr lang="en-US" sz="1500" dirty="0"/>
          </a:p>
        </p:txBody>
      </p:sp>
      <p:sp>
        <p:nvSpPr>
          <p:cNvPr id="6" name="Text 4"/>
          <p:cNvSpPr/>
          <p:nvPr/>
        </p:nvSpPr>
        <p:spPr>
          <a:xfrm>
            <a:off x="1003300" y="2285938"/>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Map YAML templates, runners, feeds, PRs, owners, release dependencies</a:t>
            </a:r>
            <a:endParaRPr lang="en-US" sz="1200" dirty="0"/>
          </a:p>
        </p:txBody>
      </p:sp>
      <p:sp>
        <p:nvSpPr>
          <p:cNvPr id="7" name="Text 5"/>
          <p:cNvSpPr/>
          <p:nvPr/>
        </p:nvSpPr>
        <p:spPr>
          <a:xfrm>
            <a:off x="1003300" y="2776079"/>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scope and gaps reviewed</a:t>
            </a:r>
            <a:endParaRPr lang="en-US" sz="1200" dirty="0"/>
          </a:p>
        </p:txBody>
      </p:sp>
      <p:sp>
        <p:nvSpPr>
          <p:cNvPr id="8" name="Shape 6"/>
          <p:cNvSpPr/>
          <p:nvPr/>
        </p:nvSpPr>
        <p:spPr>
          <a:xfrm>
            <a:off x="4392083" y="1809688"/>
            <a:ext cx="3407833" cy="1363861"/>
          </a:xfrm>
          <a:prstGeom prst="roundRect">
            <a:avLst>
              <a:gd name="adj" fmla="val 5121"/>
            </a:avLst>
          </a:prstGeom>
          <a:solidFill>
            <a:srgbClr val="FDFCF9"/>
          </a:solidFill>
          <a:ln w="12700">
            <a:solidFill>
              <a:srgbClr val="E2DED3"/>
            </a:solidFill>
            <a:prstDash val="solid"/>
          </a:ln>
        </p:spPr>
      </p:sp>
      <p:sp>
        <p:nvSpPr>
          <p:cNvPr id="9" name="Text 7"/>
          <p:cNvSpPr/>
          <p:nvPr/>
        </p:nvSpPr>
        <p:spPr>
          <a:xfrm>
            <a:off x="4576233" y="1993838"/>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2 · Foundation</a:t>
            </a:r>
            <a:endParaRPr lang="en-US" sz="1500" dirty="0"/>
          </a:p>
        </p:txBody>
      </p:sp>
      <p:sp>
        <p:nvSpPr>
          <p:cNvPr id="10" name="Text 8"/>
          <p:cNvSpPr/>
          <p:nvPr/>
        </p:nvSpPr>
        <p:spPr>
          <a:xfrm>
            <a:off x="4576233" y="2285938"/>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GitHub access, repo governance, runners, identities, RBAC</a:t>
            </a:r>
            <a:endParaRPr lang="en-US" sz="1200" dirty="0"/>
          </a:p>
        </p:txBody>
      </p:sp>
      <p:sp>
        <p:nvSpPr>
          <p:cNvPr id="11" name="Text 9"/>
          <p:cNvSpPr/>
          <p:nvPr/>
        </p:nvSpPr>
        <p:spPr>
          <a:xfrm>
            <a:off x="4576233" y="2776079"/>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security and connectivity validated</a:t>
            </a:r>
            <a:endParaRPr lang="en-US" sz="1200" dirty="0"/>
          </a:p>
        </p:txBody>
      </p:sp>
      <p:sp>
        <p:nvSpPr>
          <p:cNvPr id="12" name="Shape 10"/>
          <p:cNvSpPr/>
          <p:nvPr/>
        </p:nvSpPr>
        <p:spPr>
          <a:xfrm>
            <a:off x="7965017" y="1809688"/>
            <a:ext cx="3407833" cy="1363861"/>
          </a:xfrm>
          <a:prstGeom prst="roundRect">
            <a:avLst>
              <a:gd name="adj" fmla="val 5121"/>
            </a:avLst>
          </a:prstGeom>
          <a:solidFill>
            <a:srgbClr val="FDFCF9"/>
          </a:solidFill>
          <a:ln w="12700">
            <a:solidFill>
              <a:srgbClr val="E2DED3"/>
            </a:solidFill>
            <a:prstDash val="solid"/>
          </a:ln>
        </p:spPr>
      </p:sp>
      <p:sp>
        <p:nvSpPr>
          <p:cNvPr id="13" name="Text 11"/>
          <p:cNvSpPr/>
          <p:nvPr/>
        </p:nvSpPr>
        <p:spPr>
          <a:xfrm>
            <a:off x="8149167" y="1993838"/>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3 · Pilot</a:t>
            </a:r>
            <a:endParaRPr lang="en-US" sz="1500" dirty="0"/>
          </a:p>
        </p:txBody>
      </p:sp>
      <p:sp>
        <p:nvSpPr>
          <p:cNvPr id="14" name="Text 12"/>
          <p:cNvSpPr/>
          <p:nvPr/>
        </p:nvSpPr>
        <p:spPr>
          <a:xfrm>
            <a:off x="8149167" y="2285938"/>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Migrate representative repos and build/release workflows</a:t>
            </a:r>
            <a:endParaRPr lang="en-US" sz="1200" dirty="0"/>
          </a:p>
        </p:txBody>
      </p:sp>
      <p:sp>
        <p:nvSpPr>
          <p:cNvPr id="15" name="Text 13"/>
          <p:cNvSpPr/>
          <p:nvPr/>
        </p:nvSpPr>
        <p:spPr>
          <a:xfrm>
            <a:off x="8149167" y="2776079"/>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non-prod behavior validated</a:t>
            </a:r>
            <a:endParaRPr lang="en-US" sz="1200" dirty="0"/>
          </a:p>
        </p:txBody>
      </p:sp>
      <p:sp>
        <p:nvSpPr>
          <p:cNvPr id="16" name="Shape 14"/>
          <p:cNvSpPr/>
          <p:nvPr/>
        </p:nvSpPr>
        <p:spPr>
          <a:xfrm>
            <a:off x="819150" y="3338649"/>
            <a:ext cx="3407833" cy="1363861"/>
          </a:xfrm>
          <a:prstGeom prst="roundRect">
            <a:avLst>
              <a:gd name="adj" fmla="val 5121"/>
            </a:avLst>
          </a:prstGeom>
          <a:solidFill>
            <a:srgbClr val="FDFCF9"/>
          </a:solidFill>
          <a:ln w="12700">
            <a:solidFill>
              <a:srgbClr val="E2DED3"/>
            </a:solidFill>
            <a:prstDash val="solid"/>
          </a:ln>
        </p:spPr>
      </p:sp>
      <p:sp>
        <p:nvSpPr>
          <p:cNvPr id="17" name="Text 15"/>
          <p:cNvSpPr/>
          <p:nvPr/>
        </p:nvSpPr>
        <p:spPr>
          <a:xfrm>
            <a:off x="1003300" y="3522799"/>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4 · Waves</a:t>
            </a:r>
            <a:endParaRPr lang="en-US" sz="1500" dirty="0"/>
          </a:p>
        </p:txBody>
      </p:sp>
      <p:sp>
        <p:nvSpPr>
          <p:cNvPr id="18" name="Text 16"/>
          <p:cNvSpPr/>
          <p:nvPr/>
        </p:nvSpPr>
        <p:spPr>
          <a:xfrm>
            <a:off x="1003300" y="3814899"/>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Move retained repos, builds and releases by workload</a:t>
            </a:r>
            <a:endParaRPr lang="en-US" sz="1200" dirty="0"/>
          </a:p>
        </p:txBody>
      </p:sp>
      <p:sp>
        <p:nvSpPr>
          <p:cNvPr id="19" name="Text 17"/>
          <p:cNvSpPr/>
          <p:nvPr/>
        </p:nvSpPr>
        <p:spPr>
          <a:xfrm>
            <a:off x="1003300" y="4305040"/>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owner sign-off per workload</a:t>
            </a:r>
            <a:endParaRPr lang="en-US" sz="1200" dirty="0"/>
          </a:p>
        </p:txBody>
      </p:sp>
      <p:sp>
        <p:nvSpPr>
          <p:cNvPr id="20" name="Shape 18"/>
          <p:cNvSpPr/>
          <p:nvPr/>
        </p:nvSpPr>
        <p:spPr>
          <a:xfrm>
            <a:off x="4392083" y="3338649"/>
            <a:ext cx="3407833" cy="1363861"/>
          </a:xfrm>
          <a:prstGeom prst="roundRect">
            <a:avLst>
              <a:gd name="adj" fmla="val 5121"/>
            </a:avLst>
          </a:prstGeom>
          <a:solidFill>
            <a:srgbClr val="FDFCF9"/>
          </a:solidFill>
          <a:ln w="12700">
            <a:solidFill>
              <a:srgbClr val="E2DED3"/>
            </a:solidFill>
            <a:prstDash val="solid"/>
          </a:ln>
        </p:spPr>
      </p:sp>
      <p:sp>
        <p:nvSpPr>
          <p:cNvPr id="21" name="Text 19"/>
          <p:cNvSpPr/>
          <p:nvPr/>
        </p:nvSpPr>
        <p:spPr>
          <a:xfrm>
            <a:off x="4576233" y="3522799"/>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5 · Cutover</a:t>
            </a:r>
            <a:endParaRPr lang="en-US" sz="1500" dirty="0"/>
          </a:p>
        </p:txBody>
      </p:sp>
      <p:sp>
        <p:nvSpPr>
          <p:cNvPr id="22" name="Text 20"/>
          <p:cNvSpPr/>
          <p:nvPr/>
        </p:nvSpPr>
        <p:spPr>
          <a:xfrm>
            <a:off x="4576233" y="3814899"/>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Switch production execution, rollback available</a:t>
            </a:r>
            <a:endParaRPr lang="en-US" sz="1200" dirty="0"/>
          </a:p>
        </p:txBody>
      </p:sp>
      <p:sp>
        <p:nvSpPr>
          <p:cNvPr id="23" name="Text 21"/>
          <p:cNvSpPr/>
          <p:nvPr/>
        </p:nvSpPr>
        <p:spPr>
          <a:xfrm>
            <a:off x="4576233" y="4305040"/>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production acceptance</a:t>
            </a:r>
            <a:endParaRPr lang="en-US" sz="1200" dirty="0"/>
          </a:p>
        </p:txBody>
      </p:sp>
      <p:sp>
        <p:nvSpPr>
          <p:cNvPr id="24" name="Shape 22"/>
          <p:cNvSpPr/>
          <p:nvPr/>
        </p:nvSpPr>
        <p:spPr>
          <a:xfrm>
            <a:off x="7965017" y="3338649"/>
            <a:ext cx="3407833" cy="1363861"/>
          </a:xfrm>
          <a:prstGeom prst="roundRect">
            <a:avLst>
              <a:gd name="adj" fmla="val 5121"/>
            </a:avLst>
          </a:prstGeom>
          <a:solidFill>
            <a:srgbClr val="FDFCF9"/>
          </a:solidFill>
          <a:ln w="12700">
            <a:solidFill>
              <a:srgbClr val="E2DED3"/>
            </a:solidFill>
            <a:prstDash val="solid"/>
          </a:ln>
        </p:spPr>
      </p:sp>
      <p:sp>
        <p:nvSpPr>
          <p:cNvPr id="25" name="Text 23"/>
          <p:cNvSpPr/>
          <p:nvPr/>
        </p:nvSpPr>
        <p:spPr>
          <a:xfrm>
            <a:off x="8149167" y="3522799"/>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6 · Decommission</a:t>
            </a:r>
            <a:endParaRPr lang="en-US" sz="1500" dirty="0"/>
          </a:p>
        </p:txBody>
      </p:sp>
      <p:sp>
        <p:nvSpPr>
          <p:cNvPr id="26" name="Text 24"/>
          <p:cNvSpPr/>
          <p:nvPr/>
        </p:nvSpPr>
        <p:spPr>
          <a:xfrm>
            <a:off x="8149167" y="3814899"/>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Retire ADO assets only after migration or approved exclusion</a:t>
            </a:r>
            <a:endParaRPr lang="en-US" sz="1200" dirty="0"/>
          </a:p>
        </p:txBody>
      </p:sp>
      <p:sp>
        <p:nvSpPr>
          <p:cNvPr id="27" name="Text 25"/>
          <p:cNvSpPr/>
          <p:nvPr/>
        </p:nvSpPr>
        <p:spPr>
          <a:xfrm>
            <a:off x="8149167" y="4305040"/>
            <a:ext cx="31307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B"/>
                </a:solidFill>
                <a:latin typeface="IBM Plex Sans" pitchFamily="34" charset="0"/>
                <a:ea typeface="IBM Plex Sans" pitchFamily="34" charset="-122"/>
                <a:cs typeface="IBM Plex Sans" pitchFamily="34" charset="-120"/>
              </a:rPr>
              <a:t>Exit: operations and owner approval</a:t>
            </a:r>
            <a:endParaRPr lang="en-US" sz="1200" dirty="0"/>
          </a:p>
        </p:txBody>
      </p:sp>
      <p:sp>
        <p:nvSpPr>
          <p:cNvPr id="28" name="Text 26"/>
          <p:cNvSpPr/>
          <p:nvPr/>
        </p:nvSpPr>
        <p:spPr>
          <a:xfrm>
            <a:off x="812800" y="493746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Transition option:</a:t>
            </a:r>
            <a:r>
              <a:rPr lang="en-US" sz="1200" dirty="0">
                <a:solidFill>
                  <a:srgbClr val="4A5568"/>
                </a:solidFill>
                <a:latin typeface="IBM Plex Sans" pitchFamily="34" charset="0"/>
                <a:ea typeface="IBM Plex Sans" pitchFamily="34" charset="-122"/>
                <a:cs typeface="IBM Plex Sans" pitchFamily="34" charset="-120"/>
              </a:rPr>
              <a:t> selected Azure Pipelines may keep running against GitHub source during conversion, subject to connectivity and permissions.</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80"/>
                </a:solidFill>
                <a:latin typeface="IBM Plex Sans" pitchFamily="34" charset="0"/>
                <a:ea typeface="IBM Plex Sans" pitchFamily="34" charset="-122"/>
                <a:cs typeface="IBM Plex Sans" pitchFamily="34" charset="-120"/>
              </a:rPr>
              <a:t>ADO to GitHub migration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JetBrains Mono" pitchFamily="49" charset="0"/>
                <a:ea typeface="JetBrains Mono" pitchFamily="49" charset="-122"/>
                <a:cs typeface="JetBrains Mono" pitchFamily="49" charset="-120"/>
              </a:rPr>
              <a:t>ASKS OF MANAGEMENT</a:t>
            </a:r>
            <a:endParaRPr lang="en-US" sz="1200" dirty="0"/>
          </a:p>
        </p:txBody>
      </p:sp>
      <p:sp>
        <p:nvSpPr>
          <p:cNvPr id="3" name="Text 1"/>
          <p:cNvSpPr/>
          <p:nvPr>
            <p:ph type="title"/>
          </p:nvPr>
        </p:nvSpPr>
        <p:spPr>
          <a:xfrm>
            <a:off x="812800" y="11277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IBM Plex Sans" pitchFamily="34" charset="0"/>
                <a:ea typeface="IBM Plex Sans" pitchFamily="34" charset="-122"/>
                <a:cs typeface="IBM Plex Sans" pitchFamily="34" charset="-120"/>
              </a:rPr>
              <a:t>Decisions and next steps</a:t>
            </a:r>
            <a:endParaRPr lang="en-US" sz="3200" dirty="0"/>
          </a:p>
        </p:txBody>
      </p:sp>
      <p:sp>
        <p:nvSpPr>
          <p:cNvPr id="4" name="Text 2"/>
          <p:cNvSpPr/>
          <p:nvPr/>
        </p:nvSpPr>
        <p:spPr>
          <a:xfrm>
            <a:off x="812800" y="1828738"/>
            <a:ext cx="528472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Decisions requested</a:t>
            </a:r>
            <a:endParaRPr lang="en-US" sz="1600" dirty="0"/>
          </a:p>
        </p:txBody>
      </p:sp>
      <p:sp>
        <p:nvSpPr>
          <p:cNvPr id="5" name="Shape 3"/>
          <p:cNvSpPr/>
          <p:nvPr/>
        </p:nvSpPr>
        <p:spPr>
          <a:xfrm>
            <a:off x="812800" y="2205906"/>
            <a:ext cx="5130800" cy="0"/>
          </a:xfrm>
          <a:prstGeom prst="line">
            <a:avLst/>
          </a:prstGeom>
          <a:noFill/>
          <a:ln w="12700">
            <a:solidFill>
              <a:srgbClr val="3A4A6B"/>
            </a:solidFill>
            <a:prstDash val="solid"/>
          </a:ln>
        </p:spPr>
      </p:sp>
      <p:sp>
        <p:nvSpPr>
          <p:cNvPr id="6" name="Text 4"/>
          <p:cNvSpPr/>
          <p:nvPr/>
        </p:nvSpPr>
        <p:spPr>
          <a:xfrm>
            <a:off x="812800" y="2339256"/>
            <a:ext cx="26418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65A"/>
                </a:solidFill>
                <a:latin typeface="JetBrains Mono" pitchFamily="49" charset="0"/>
                <a:ea typeface="JetBrains Mono" pitchFamily="49" charset="-122"/>
                <a:cs typeface="JetBrains Mono" pitchFamily="49" charset="-120"/>
              </a:rPr>
              <a:t>01</a:t>
            </a:r>
            <a:endParaRPr lang="en-US" sz="1400" dirty="0"/>
          </a:p>
        </p:txBody>
      </p:sp>
      <p:sp>
        <p:nvSpPr>
          <p:cNvPr id="7" name="Text 5"/>
          <p:cNvSpPr/>
          <p:nvPr/>
        </p:nvSpPr>
        <p:spPr>
          <a:xfrm>
            <a:off x="1153186" y="2339256"/>
            <a:ext cx="493412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IBM Plex Sans" pitchFamily="34" charset="0"/>
                <a:ea typeface="IBM Plex Sans" pitchFamily="34" charset="-122"/>
                <a:cs typeface="IBM Plex Sans" pitchFamily="34" charset="-120"/>
              </a:rPr>
              <a:t>Approve one GitHub repo per retained ADO repo as the starting design</a:t>
            </a:r>
            <a:endParaRPr lang="en-US" sz="1400" dirty="0"/>
          </a:p>
        </p:txBody>
      </p:sp>
      <p:sp>
        <p:nvSpPr>
          <p:cNvPr id="8" name="Shape 6"/>
          <p:cNvSpPr/>
          <p:nvPr/>
        </p:nvSpPr>
        <p:spPr>
          <a:xfrm>
            <a:off x="812800" y="2970411"/>
            <a:ext cx="5130800" cy="0"/>
          </a:xfrm>
          <a:prstGeom prst="line">
            <a:avLst/>
          </a:prstGeom>
          <a:noFill/>
          <a:ln w="12700">
            <a:solidFill>
              <a:srgbClr val="3A4A6B"/>
            </a:solidFill>
            <a:prstDash val="solid"/>
          </a:ln>
        </p:spPr>
      </p:sp>
      <p:sp>
        <p:nvSpPr>
          <p:cNvPr id="9" name="Text 7"/>
          <p:cNvSpPr/>
          <p:nvPr/>
        </p:nvSpPr>
        <p:spPr>
          <a:xfrm>
            <a:off x="812800" y="3103761"/>
            <a:ext cx="26418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65A"/>
                </a:solidFill>
                <a:latin typeface="JetBrains Mono" pitchFamily="49" charset="0"/>
                <a:ea typeface="JetBrains Mono" pitchFamily="49" charset="-122"/>
                <a:cs typeface="JetBrains Mono" pitchFamily="49" charset="-120"/>
              </a:rPr>
              <a:t>02</a:t>
            </a:r>
            <a:endParaRPr lang="en-US" sz="1400" dirty="0"/>
          </a:p>
        </p:txBody>
      </p:sp>
      <p:sp>
        <p:nvSpPr>
          <p:cNvPr id="10" name="Text 8"/>
          <p:cNvSpPr/>
          <p:nvPr/>
        </p:nvSpPr>
        <p:spPr>
          <a:xfrm>
            <a:off x="1153186" y="3103761"/>
            <a:ext cx="493412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IBM Plex Sans" pitchFamily="34" charset="0"/>
                <a:ea typeface="IBM Plex Sans" pitchFamily="34" charset="-122"/>
                <a:cs typeface="IBM Plex Sans" pitchFamily="34" charset="-120"/>
              </a:rPr>
              <a:t>Endorse OIDC identities in place of service connection secrets</a:t>
            </a:r>
            <a:endParaRPr lang="en-US" sz="1400" dirty="0"/>
          </a:p>
        </p:txBody>
      </p:sp>
      <p:sp>
        <p:nvSpPr>
          <p:cNvPr id="11" name="Shape 9"/>
          <p:cNvSpPr/>
          <p:nvPr/>
        </p:nvSpPr>
        <p:spPr>
          <a:xfrm>
            <a:off x="812800" y="3734929"/>
            <a:ext cx="5130800" cy="0"/>
          </a:xfrm>
          <a:prstGeom prst="line">
            <a:avLst/>
          </a:prstGeom>
          <a:noFill/>
          <a:ln w="12700">
            <a:solidFill>
              <a:srgbClr val="3A4A6B"/>
            </a:solidFill>
            <a:prstDash val="solid"/>
          </a:ln>
        </p:spPr>
      </p:sp>
      <p:sp>
        <p:nvSpPr>
          <p:cNvPr id="12" name="Text 10"/>
          <p:cNvSpPr/>
          <p:nvPr/>
        </p:nvSpPr>
        <p:spPr>
          <a:xfrm>
            <a:off x="812800" y="3868279"/>
            <a:ext cx="26418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A65A"/>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1153186" y="3868279"/>
            <a:ext cx="493412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IBM Plex Sans" pitchFamily="34" charset="0"/>
                <a:ea typeface="IBM Plex Sans" pitchFamily="34" charset="-122"/>
                <a:cs typeface="IBM Plex Sans" pitchFamily="34" charset="-120"/>
              </a:rPr>
              <a:t>Name owners and capacity for discovery and the pilot</a:t>
            </a:r>
            <a:endParaRPr lang="en-US" sz="1400" dirty="0"/>
          </a:p>
        </p:txBody>
      </p:sp>
      <p:sp>
        <p:nvSpPr>
          <p:cNvPr id="14" name="Text 12"/>
          <p:cNvSpPr/>
          <p:nvPr/>
        </p:nvSpPr>
        <p:spPr>
          <a:xfrm>
            <a:off x="6248400" y="1828738"/>
            <a:ext cx="528472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Next steps</a:t>
            </a:r>
            <a:endParaRPr lang="en-US" sz="1600" dirty="0"/>
          </a:p>
        </p:txBody>
      </p:sp>
      <p:sp>
        <p:nvSpPr>
          <p:cNvPr id="15" name="Text 13"/>
          <p:cNvSpPr/>
          <p:nvPr/>
        </p:nvSpPr>
        <p:spPr>
          <a:xfrm>
            <a:off x="6333744" y="2199556"/>
            <a:ext cx="5191760" cy="1461691"/>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BFC8D8"/>
                </a:solidFill>
                <a:latin typeface="IBM Plex Sans" pitchFamily="34" charset="0"/>
                <a:ea typeface="IBM Plex Sans" pitchFamily="34" charset="-122"/>
                <a:cs typeface="IBM Plex Sans" pitchFamily="34" charset="-120"/>
              </a:rPr>
              <a:t>Finish dependency and conversion assessment; refresh counts</a:t>
            </a:r>
            <a:endParaRPr lang="en-US" sz="1300" dirty="0"/>
          </a:p>
          <a:p>
            <a:pPr algn="l" marL="168656" indent="-168656">
              <a:lnSpc>
                <a:spcPts val="1885"/>
              </a:lnSpc>
              <a:buSzPct val="100000"/>
              <a:buChar char="•"/>
            </a:pPr>
            <a:r>
              <a:rPr lang="en-US" sz="1300" dirty="0">
                <a:solidFill>
                  <a:srgbClr val="BFC8D8"/>
                </a:solidFill>
                <a:latin typeface="IBM Plex Sans" pitchFamily="34" charset="0"/>
                <a:ea typeface="IBM Plex Sans" pitchFamily="34" charset="-122"/>
                <a:cs typeface="IBM Plex Sans" pitchFamily="34" charset="-120"/>
              </a:rPr>
              <a:t>Reconcile the four extra referenced repository IDs</a:t>
            </a:r>
            <a:endParaRPr lang="en-US" sz="1300" dirty="0"/>
          </a:p>
          <a:p>
            <a:pPr algn="l" marL="168656" indent="-168656">
              <a:lnSpc>
                <a:spcPts val="1885"/>
              </a:lnSpc>
              <a:buSzPct val="100000"/>
              <a:buChar char="•"/>
            </a:pPr>
            <a:r>
              <a:rPr lang="en-US" sz="1300" dirty="0">
                <a:solidFill>
                  <a:srgbClr val="BFC8D8"/>
                </a:solidFill>
                <a:latin typeface="IBM Plex Sans" pitchFamily="34" charset="0"/>
                <a:ea typeface="IBM Plex Sans" pitchFamily="34" charset="-122"/>
                <a:cs typeface="IBM Plex Sans" pitchFamily="34" charset="-120"/>
              </a:rPr>
              <a:t>Map pipelines to pools; size Container Apps runners</a:t>
            </a:r>
            <a:endParaRPr lang="en-US" sz="1300" dirty="0"/>
          </a:p>
          <a:p>
            <a:pPr algn="l" marL="168656" indent="-168656">
              <a:lnSpc>
                <a:spcPts val="1885"/>
              </a:lnSpc>
              <a:buSzPct val="100000"/>
              <a:buChar char="•"/>
            </a:pPr>
            <a:r>
              <a:rPr lang="en-US" sz="1300" dirty="0">
                <a:solidFill>
                  <a:srgbClr val="BFC8D8"/>
                </a:solidFill>
                <a:latin typeface="IBM Plex Sans" pitchFamily="34" charset="0"/>
                <a:ea typeface="IBM Plex Sans" pitchFamily="34" charset="-122"/>
                <a:cs typeface="IBM Plex Sans" pitchFamily="34" charset="-120"/>
              </a:rPr>
              <a:t>Verify org-wide GitHub permissions and runner policies</a:t>
            </a:r>
            <a:endParaRPr lang="en-US" sz="1300" dirty="0"/>
          </a:p>
          <a:p>
            <a:pPr algn="l" marL="168656" indent="-168656">
              <a:lnSpc>
                <a:spcPts val="1885"/>
              </a:lnSpc>
              <a:buSzPct val="100000"/>
              <a:buChar char="•"/>
            </a:pPr>
            <a:r>
              <a:rPr lang="en-US" sz="1300" dirty="0">
                <a:solidFill>
                  <a:srgbClr val="BFC8D8"/>
                </a:solidFill>
                <a:latin typeface="IBM Plex Sans" pitchFamily="34" charset="0"/>
                <a:ea typeface="IBM Plex Sans" pitchFamily="34" charset="-122"/>
                <a:cs typeface="IBM Plex Sans" pitchFamily="34" charset="-120"/>
              </a:rPr>
              <a:t>Map and test every ADO approval and check</a:t>
            </a:r>
            <a:endParaRPr lang="en-US" sz="1300" dirty="0"/>
          </a:p>
          <a:p>
            <a:pPr algn="l" marL="168656" indent="-168656">
              <a:lnSpc>
                <a:spcPts val="1885"/>
              </a:lnSpc>
              <a:buSzPct val="100000"/>
              <a:buChar char="•"/>
            </a:pPr>
            <a:r>
              <a:rPr lang="en-US" sz="1300" dirty="0">
                <a:solidFill>
                  <a:srgbClr val="BFC8D8"/>
                </a:solidFill>
                <a:latin typeface="IBM Plex Sans" pitchFamily="34" charset="0"/>
                <a:ea typeface="IBM Plex Sans" pitchFamily="34" charset="-122"/>
                <a:cs typeface="IBM Plex Sans" pitchFamily="34" charset="-120"/>
              </a:rPr>
              <a:t>Pick the pilot repo and its infrastructure workflow</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B3"/>
                </a:solidFill>
                <a:latin typeface="IBM Plex Sans" pitchFamily="34" charset="0"/>
                <a:ea typeface="IBM Plex Sans" pitchFamily="34" charset="-122"/>
                <a:cs typeface="IBM Plex Sans" pitchFamily="34" charset="-120"/>
              </a:rPr>
              <a:t>ADO to GitHub migration · 19</a:t>
            </a:r>
            <a:endParaRPr lang="en-US" sz="1200" dirty="0"/>
          </a:p>
        </p:txBody>
      </p:sp>
    </p:spTree>
  </p:cSld>
  <p:clrMapOvr>
    <a:masterClrMapping/>
  </p:clrMapOvr>
</p:sld>
</file>

<file path=ppt/theme/theme1.xml><?xml version="1.0" encoding="utf-8"?>
<a:theme xmlns:a="http://schemas.openxmlformats.org/drawingml/2006/main" name="ADO to GitHub Migration">
  <a:themeElements>
    <a:clrScheme name="ADO to GitHub Migration">
      <a:dk1>
        <a:srgbClr val="14213D"/>
      </a:dk1>
      <a:lt1>
        <a:srgbClr val="F6F4EE"/>
      </a:lt1>
      <a:dk2>
        <a:srgbClr val="4D5669"/>
      </a:dk2>
      <a:lt2>
        <a:srgbClr val="DFDFDC"/>
      </a:lt2>
      <a:accent1>
        <a:srgbClr val="A8481B"/>
      </a:accent1>
      <a:accent2>
        <a:srgbClr val="F2A65A"/>
      </a:accent2>
      <a:accent3>
        <a:srgbClr val="4A5568"/>
      </a:accent3>
      <a:accent4>
        <a:srgbClr val="6A7180"/>
      </a:accent4>
      <a:accent5>
        <a:srgbClr val="5A6474"/>
      </a:accent5>
      <a:accent6>
        <a:srgbClr val="F9E3D3"/>
      </a:accent6>
      <a:hlink>
        <a:srgbClr val="0563C1"/>
      </a:hlink>
      <a:folHlink>
        <a:srgbClr val="954F72"/>
      </a:folHlink>
    </a:clrScheme>
    <a:fontScheme name="ADO to GitHub Migr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to GitHub Migration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2026-10-28T11:42:40Z</dcterms:created>
  <dcterms:modified xsi:type="dcterms:W3CDTF">2026-10-28T11:42:40Z</dcterms:modified>
</cp:coreProperties>
</file>